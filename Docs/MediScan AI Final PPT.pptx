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7" r:id="rId12"/>
    <p:sldId id="268" r:id="rId13"/>
    <p:sldId id="269" r:id="rId14"/>
    <p:sldId id="270" r:id="rId15"/>
    <p:sldId id="271" r:id="rId16"/>
    <p:sldId id="272" r:id="rId17"/>
    <p:sldId id="273" r:id="rId18"/>
    <p:sldId id="275" r:id="rId19"/>
    <p:sldId id="274" r:id="rId20"/>
  </p:sldIdLst>
  <p:sldSz cx="18288000" cy="10287000"/>
  <p:notesSz cx="6858000" cy="9144000"/>
  <p:embeddedFontLst>
    <p:embeddedFont>
      <p:font typeface="Roboto Bold" panose="020B0604020202020204" charset="0"/>
      <p:regular r:id="rId21"/>
    </p:embeddedFont>
    <p:embeddedFont>
      <p:font typeface="Times New Roman Bold" panose="02020803070505020304" pitchFamily="18" charset="0"/>
      <p:regular r:id="rId22"/>
      <p:bold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6" d="100"/>
          <a:sy n="56" d="100"/>
        </p:scale>
        <p:origin x="61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12/14/2025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12/14/2025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12/14/2025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12/14/2025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svg"/></Relationships>
</file>

<file path=ppt/slides/_rels/slide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7.xml"/><Relationship Id="rId5" Type="http://schemas.openxmlformats.org/officeDocument/2006/relationships/image" Target="../media/image12.svg"/><Relationship Id="rId4" Type="http://schemas.openxmlformats.org/officeDocument/2006/relationships/image" Target="../media/image11.png"/></Relationships>
</file>

<file path=ppt/slides/_rels/slide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7.xml"/><Relationship Id="rId5" Type="http://schemas.openxmlformats.org/officeDocument/2006/relationships/image" Target="../media/image12.svg"/><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2.sv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12.sv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2.sv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Layout" Target="../slideLayouts/slideLayout7.xml"/><Relationship Id="rId5" Type="http://schemas.openxmlformats.org/officeDocument/2006/relationships/image" Target="../media/image12.sv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Layout" Target="../slideLayouts/slideLayout7.xml"/><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22.png"/></Relationships>
</file>

<file path=ppt/slides/_rels/slide9.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Layout" Target="../slideLayouts/slideLayout7.xml"/><Relationship Id="rId5" Type="http://schemas.openxmlformats.org/officeDocument/2006/relationships/image" Target="../media/image12.sv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Layout" Target="../slideLayouts/slideLayout7.xml"/><Relationship Id="rId5" Type="http://schemas.openxmlformats.org/officeDocument/2006/relationships/image" Target="../media/image12.sv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12.sv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Layout" Target="../slideLayouts/slideLayout7.xml"/><Relationship Id="rId6" Type="http://schemas.openxmlformats.org/officeDocument/2006/relationships/image" Target="../media/image24.png"/><Relationship Id="rId5" Type="http://schemas.openxmlformats.org/officeDocument/2006/relationships/image" Target="../media/image12.sv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Layout" Target="../slideLayouts/slideLayout7.xml"/><Relationship Id="rId6" Type="http://schemas.openxmlformats.org/officeDocument/2006/relationships/image" Target="../media/image25.png"/><Relationship Id="rId5" Type="http://schemas.openxmlformats.org/officeDocument/2006/relationships/image" Target="../media/image12.svg"/><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Layout" Target="../slideLayouts/slideLayout7.xml"/><Relationship Id="rId6" Type="http://schemas.openxmlformats.org/officeDocument/2006/relationships/image" Target="../media/image26.png"/><Relationship Id="rId5" Type="http://schemas.openxmlformats.org/officeDocument/2006/relationships/image" Target="../media/image12.svg"/><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Layout" Target="../slideLayouts/slideLayout7.xml"/><Relationship Id="rId6" Type="http://schemas.openxmlformats.org/officeDocument/2006/relationships/image" Target="../media/image27.png"/><Relationship Id="rId5" Type="http://schemas.openxmlformats.org/officeDocument/2006/relationships/image" Target="../media/image12.svg"/><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3" Type="http://schemas.openxmlformats.org/officeDocument/2006/relationships/image" Target="../media/image29.svg"/><Relationship Id="rId7" Type="http://schemas.openxmlformats.org/officeDocument/2006/relationships/image" Target="../media/image12.svg"/><Relationship Id="rId2" Type="http://schemas.openxmlformats.org/officeDocument/2006/relationships/image" Target="../media/image28.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21.svg"/><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Layout" Target="../slideLayouts/slideLayout7.xml"/><Relationship Id="rId5" Type="http://schemas.openxmlformats.org/officeDocument/2006/relationships/image" Target="../media/image12.svg"/><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3" Type="http://schemas.openxmlformats.org/officeDocument/2006/relationships/image" Target="../media/image12.svg"/><Relationship Id="rId7" Type="http://schemas.openxmlformats.org/officeDocument/2006/relationships/hyperlink" Target="https://github.com/Nikhil-L-U/MediscanAI" TargetMode="External"/><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hyperlink" Target="https://github.com/SaiGokul654/SaiGokul-Mini_Project-.git" TargetMode="External"/><Relationship Id="rId5" Type="http://schemas.openxmlformats.org/officeDocument/2006/relationships/hyperlink" Target="https://github.com/LikeethGUrs-commits/TheMediscanAI" TargetMode="External"/><Relationship Id="rId4" Type="http://schemas.openxmlformats.org/officeDocument/2006/relationships/hyperlink" Target="https://github.com/Tarung33/MediscanAI.git" TargetMode="External"/></Relationships>
</file>

<file path=ppt/slides/_rels/slide19.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Layout" Target="../slideLayouts/slideLayout7.xml"/><Relationship Id="rId5" Type="http://schemas.openxmlformats.org/officeDocument/2006/relationships/image" Target="../media/image12.svg"/><Relationship Id="rId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A3990"/>
        </a:solidFill>
        <a:effectLst/>
      </p:bgPr>
    </p:bg>
    <p:spTree>
      <p:nvGrpSpPr>
        <p:cNvPr id="1" name=""/>
        <p:cNvGrpSpPr/>
        <p:nvPr/>
      </p:nvGrpSpPr>
      <p:grpSpPr>
        <a:xfrm>
          <a:off x="0" y="0"/>
          <a:ext cx="0" cy="0"/>
          <a:chOff x="0" y="0"/>
          <a:chExt cx="0" cy="0"/>
        </a:xfrm>
      </p:grpSpPr>
      <p:sp>
        <p:nvSpPr>
          <p:cNvPr id="2" name="Freeform 2"/>
          <p:cNvSpPr/>
          <p:nvPr/>
        </p:nvSpPr>
        <p:spPr>
          <a:xfrm>
            <a:off x="220504" y="-126987"/>
            <a:ext cx="18194503" cy="9637662"/>
          </a:xfrm>
          <a:custGeom>
            <a:avLst/>
            <a:gdLst/>
            <a:ahLst/>
            <a:cxnLst/>
            <a:rect l="l" t="t" r="r" b="b"/>
            <a:pathLst>
              <a:path w="18194503" h="9637662">
                <a:moveTo>
                  <a:pt x="0" y="0"/>
                </a:moveTo>
                <a:lnTo>
                  <a:pt x="18194502" y="0"/>
                </a:lnTo>
                <a:lnTo>
                  <a:pt x="18194502" y="9637661"/>
                </a:lnTo>
                <a:lnTo>
                  <a:pt x="0" y="963766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a:off x="347491" y="128054"/>
            <a:ext cx="2704452" cy="2763241"/>
          </a:xfrm>
          <a:custGeom>
            <a:avLst/>
            <a:gdLst/>
            <a:ahLst/>
            <a:cxnLst/>
            <a:rect l="l" t="t" r="r" b="b"/>
            <a:pathLst>
              <a:path w="2704452" h="2763241">
                <a:moveTo>
                  <a:pt x="0" y="0"/>
                </a:moveTo>
                <a:lnTo>
                  <a:pt x="2704452" y="0"/>
                </a:lnTo>
                <a:lnTo>
                  <a:pt x="2704452" y="2763241"/>
                </a:lnTo>
                <a:lnTo>
                  <a:pt x="0" y="2763241"/>
                </a:lnTo>
                <a:lnTo>
                  <a:pt x="0" y="0"/>
                </a:lnTo>
                <a:close/>
              </a:path>
            </a:pathLst>
          </a:custGeom>
          <a:blipFill>
            <a:blip r:embed="rId4"/>
            <a:stretch>
              <a:fillRect/>
            </a:stretch>
          </a:blipFill>
        </p:spPr>
        <p:txBody>
          <a:bodyPr/>
          <a:lstStyle/>
          <a:p>
            <a:endParaRPr lang="en-IN"/>
          </a:p>
        </p:txBody>
      </p:sp>
      <p:sp>
        <p:nvSpPr>
          <p:cNvPr id="4" name="Freeform 4"/>
          <p:cNvSpPr/>
          <p:nvPr/>
        </p:nvSpPr>
        <p:spPr>
          <a:xfrm>
            <a:off x="15144369" y="0"/>
            <a:ext cx="3143631" cy="3040932"/>
          </a:xfrm>
          <a:custGeom>
            <a:avLst/>
            <a:gdLst/>
            <a:ahLst/>
            <a:cxnLst/>
            <a:rect l="l" t="t" r="r" b="b"/>
            <a:pathLst>
              <a:path w="3143631" h="3040932">
                <a:moveTo>
                  <a:pt x="0" y="0"/>
                </a:moveTo>
                <a:lnTo>
                  <a:pt x="3143631" y="0"/>
                </a:lnTo>
                <a:lnTo>
                  <a:pt x="3143631" y="3040932"/>
                </a:lnTo>
                <a:lnTo>
                  <a:pt x="0" y="3040932"/>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IN"/>
          </a:p>
        </p:txBody>
      </p:sp>
      <p:sp>
        <p:nvSpPr>
          <p:cNvPr id="5" name="Freeform 5"/>
          <p:cNvSpPr/>
          <p:nvPr/>
        </p:nvSpPr>
        <p:spPr>
          <a:xfrm>
            <a:off x="15144369" y="0"/>
            <a:ext cx="3143631" cy="3040932"/>
          </a:xfrm>
          <a:custGeom>
            <a:avLst/>
            <a:gdLst/>
            <a:ahLst/>
            <a:cxnLst/>
            <a:rect l="l" t="t" r="r" b="b"/>
            <a:pathLst>
              <a:path w="3143631" h="3040932">
                <a:moveTo>
                  <a:pt x="0" y="0"/>
                </a:moveTo>
                <a:lnTo>
                  <a:pt x="3143631" y="0"/>
                </a:lnTo>
                <a:lnTo>
                  <a:pt x="3143631" y="3040932"/>
                </a:lnTo>
                <a:lnTo>
                  <a:pt x="0" y="3040932"/>
                </a:lnTo>
                <a:lnTo>
                  <a:pt x="0" y="0"/>
                </a:lnTo>
                <a:close/>
              </a:path>
            </a:pathLst>
          </a:custGeom>
          <a:blipFill>
            <a:blip r:embed="rId7"/>
            <a:stretch>
              <a:fillRect t="-6702" r="-6396"/>
            </a:stretch>
          </a:blipFill>
        </p:spPr>
        <p:txBody>
          <a:bodyPr/>
          <a:lstStyle/>
          <a:p>
            <a:endParaRPr lang="en-IN"/>
          </a:p>
        </p:txBody>
      </p:sp>
      <p:sp>
        <p:nvSpPr>
          <p:cNvPr id="6" name="Freeform 6"/>
          <p:cNvSpPr/>
          <p:nvPr/>
        </p:nvSpPr>
        <p:spPr>
          <a:xfrm>
            <a:off x="3571723" y="415347"/>
            <a:ext cx="9945605" cy="2006403"/>
          </a:xfrm>
          <a:custGeom>
            <a:avLst/>
            <a:gdLst/>
            <a:ahLst/>
            <a:cxnLst/>
            <a:rect l="l" t="t" r="r" b="b"/>
            <a:pathLst>
              <a:path w="9945605" h="2006403">
                <a:moveTo>
                  <a:pt x="0" y="0"/>
                </a:moveTo>
                <a:lnTo>
                  <a:pt x="9945605" y="0"/>
                </a:lnTo>
                <a:lnTo>
                  <a:pt x="9945605" y="2006403"/>
                </a:lnTo>
                <a:lnTo>
                  <a:pt x="0" y="2006403"/>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IN"/>
          </a:p>
        </p:txBody>
      </p:sp>
      <p:sp>
        <p:nvSpPr>
          <p:cNvPr id="7" name="TextBox 7"/>
          <p:cNvSpPr txBox="1"/>
          <p:nvPr/>
        </p:nvSpPr>
        <p:spPr>
          <a:xfrm>
            <a:off x="6256071" y="3475482"/>
            <a:ext cx="6123369" cy="685800"/>
          </a:xfrm>
          <a:prstGeom prst="rect">
            <a:avLst/>
          </a:prstGeom>
        </p:spPr>
        <p:txBody>
          <a:bodyPr lIns="0" tIns="0" rIns="0" bIns="0" rtlCol="0" anchor="t">
            <a:spAutoFit/>
          </a:bodyPr>
          <a:lstStyle/>
          <a:p>
            <a:pPr algn="l">
              <a:lnSpc>
                <a:spcPts val="5280"/>
              </a:lnSpc>
            </a:pPr>
            <a:r>
              <a:rPr lang="en-US" sz="4400" b="1">
                <a:solidFill>
                  <a:srgbClr val="FFFFFF"/>
                </a:solidFill>
                <a:latin typeface="Times New Roman Bold"/>
                <a:ea typeface="Times New Roman Bold"/>
                <a:cs typeface="Times New Roman Bold"/>
                <a:sym typeface="Times New Roman Bold"/>
              </a:rPr>
              <a:t>Mini Project – Seminar</a:t>
            </a:r>
          </a:p>
        </p:txBody>
      </p:sp>
      <p:sp>
        <p:nvSpPr>
          <p:cNvPr id="8" name="TextBox 8"/>
          <p:cNvSpPr txBox="1"/>
          <p:nvPr/>
        </p:nvSpPr>
        <p:spPr>
          <a:xfrm>
            <a:off x="766593" y="4428490"/>
            <a:ext cx="16754815" cy="1410970"/>
          </a:xfrm>
          <a:prstGeom prst="rect">
            <a:avLst/>
          </a:prstGeom>
        </p:spPr>
        <p:txBody>
          <a:bodyPr lIns="0" tIns="0" rIns="0" bIns="0" rtlCol="0" anchor="t">
            <a:spAutoFit/>
          </a:bodyPr>
          <a:lstStyle/>
          <a:p>
            <a:pPr algn="ctr">
              <a:lnSpc>
                <a:spcPts val="5280"/>
              </a:lnSpc>
            </a:pPr>
            <a:r>
              <a:rPr lang="en-US" sz="4400" b="1">
                <a:solidFill>
                  <a:srgbClr val="FFFFFF"/>
                </a:solidFill>
                <a:latin typeface="Times New Roman Bold"/>
                <a:ea typeface="Times New Roman Bold"/>
                <a:cs typeface="Times New Roman Bold"/>
                <a:sym typeface="Times New Roman Bold"/>
              </a:rPr>
              <a:t> On </a:t>
            </a:r>
          </a:p>
          <a:p>
            <a:pPr algn="ctr">
              <a:lnSpc>
                <a:spcPts val="6159"/>
              </a:lnSpc>
            </a:pPr>
            <a:r>
              <a:rPr lang="en-US" sz="4400">
                <a:solidFill>
                  <a:srgbClr val="FFFFFF"/>
                </a:solidFill>
                <a:latin typeface="Times New Roman"/>
                <a:ea typeface="Times New Roman"/>
                <a:cs typeface="Times New Roman"/>
                <a:sym typeface="Times New Roman"/>
              </a:rPr>
              <a:t>‘‘ MediScan AI : Instant Patient History Retrieval &amp; Emergency Aid ’’</a:t>
            </a:r>
          </a:p>
        </p:txBody>
      </p:sp>
      <p:sp>
        <p:nvSpPr>
          <p:cNvPr id="9" name="TextBox 9"/>
          <p:cNvSpPr txBox="1"/>
          <p:nvPr/>
        </p:nvSpPr>
        <p:spPr>
          <a:xfrm>
            <a:off x="1028700" y="6562725"/>
            <a:ext cx="4572992" cy="2967355"/>
          </a:xfrm>
          <a:prstGeom prst="rect">
            <a:avLst/>
          </a:prstGeom>
        </p:spPr>
        <p:txBody>
          <a:bodyPr lIns="0" tIns="0" rIns="0" bIns="0" rtlCol="0" anchor="t">
            <a:spAutoFit/>
          </a:bodyPr>
          <a:lstStyle/>
          <a:p>
            <a:pPr algn="just">
              <a:lnSpc>
                <a:spcPts val="4480"/>
              </a:lnSpc>
            </a:pPr>
            <a:r>
              <a:rPr lang="en-US" sz="2800" b="1">
                <a:solidFill>
                  <a:srgbClr val="FFFFFF"/>
                </a:solidFill>
                <a:latin typeface="Times New Roman Bold"/>
                <a:ea typeface="Times New Roman Bold"/>
                <a:cs typeface="Times New Roman Bold"/>
                <a:sym typeface="Times New Roman Bold"/>
              </a:rPr>
              <a:t>Presented By,  </a:t>
            </a:r>
          </a:p>
          <a:p>
            <a:pPr algn="just">
              <a:lnSpc>
                <a:spcPts val="4480"/>
              </a:lnSpc>
            </a:pPr>
            <a:r>
              <a:rPr lang="en-US" sz="2800" b="1">
                <a:solidFill>
                  <a:srgbClr val="FFFFFF"/>
                </a:solidFill>
                <a:latin typeface="Times New Roman Bold"/>
                <a:ea typeface="Times New Roman Bold"/>
                <a:cs typeface="Times New Roman Bold"/>
                <a:sym typeface="Times New Roman Bold"/>
              </a:rPr>
              <a:t>Group No : 04</a:t>
            </a:r>
          </a:p>
          <a:p>
            <a:pPr algn="just">
              <a:lnSpc>
                <a:spcPts val="4480"/>
              </a:lnSpc>
            </a:pPr>
            <a:r>
              <a:rPr lang="en-US" sz="2800">
                <a:solidFill>
                  <a:srgbClr val="FFFFFF"/>
                </a:solidFill>
                <a:latin typeface="Times New Roman"/>
                <a:ea typeface="Times New Roman"/>
                <a:cs typeface="Times New Roman"/>
                <a:sym typeface="Times New Roman"/>
              </a:rPr>
              <a:t>Tarun G           (4AI23CD056)</a:t>
            </a:r>
          </a:p>
          <a:p>
            <a:pPr algn="just">
              <a:lnSpc>
                <a:spcPts val="3360"/>
              </a:lnSpc>
            </a:pPr>
            <a:r>
              <a:rPr lang="en-US" sz="2800">
                <a:solidFill>
                  <a:srgbClr val="FFFFFF"/>
                </a:solidFill>
                <a:latin typeface="Times New Roman"/>
                <a:ea typeface="Times New Roman"/>
                <a:cs typeface="Times New Roman"/>
                <a:sym typeface="Times New Roman"/>
              </a:rPr>
              <a:t>Sai Gokul P V (4AI23CD045)</a:t>
            </a:r>
          </a:p>
          <a:p>
            <a:pPr algn="just">
              <a:lnSpc>
                <a:spcPts val="3360"/>
              </a:lnSpc>
            </a:pPr>
            <a:r>
              <a:rPr lang="en-US" sz="2800">
                <a:solidFill>
                  <a:srgbClr val="FFFFFF"/>
                </a:solidFill>
                <a:latin typeface="Times New Roman"/>
                <a:ea typeface="Times New Roman"/>
                <a:cs typeface="Times New Roman"/>
                <a:sym typeface="Times New Roman"/>
              </a:rPr>
              <a:t>Likeeth G Urs (4AI23CD025)</a:t>
            </a:r>
          </a:p>
          <a:p>
            <a:pPr algn="just">
              <a:lnSpc>
                <a:spcPts val="3359"/>
              </a:lnSpc>
            </a:pPr>
            <a:r>
              <a:rPr lang="en-US" sz="2799">
                <a:solidFill>
                  <a:srgbClr val="FFFFFF"/>
                </a:solidFill>
                <a:latin typeface="Times New Roman"/>
                <a:ea typeface="Times New Roman"/>
                <a:cs typeface="Times New Roman"/>
                <a:sym typeface="Times New Roman"/>
              </a:rPr>
              <a:t>Nikhil L U        (4AI23CD031)</a:t>
            </a:r>
          </a:p>
        </p:txBody>
      </p:sp>
      <p:sp>
        <p:nvSpPr>
          <p:cNvPr id="10" name="TextBox 10"/>
          <p:cNvSpPr txBox="1"/>
          <p:nvPr/>
        </p:nvSpPr>
        <p:spPr>
          <a:xfrm>
            <a:off x="12539740" y="6562725"/>
            <a:ext cx="4176444" cy="1086485"/>
          </a:xfrm>
          <a:prstGeom prst="rect">
            <a:avLst/>
          </a:prstGeom>
        </p:spPr>
        <p:txBody>
          <a:bodyPr lIns="0" tIns="0" rIns="0" bIns="0" rtlCol="0" anchor="t">
            <a:spAutoFit/>
          </a:bodyPr>
          <a:lstStyle/>
          <a:p>
            <a:pPr algn="l">
              <a:lnSpc>
                <a:spcPts val="4480"/>
              </a:lnSpc>
            </a:pPr>
            <a:r>
              <a:rPr lang="en-US" sz="2800" b="1">
                <a:solidFill>
                  <a:srgbClr val="FFFFFF"/>
                </a:solidFill>
                <a:latin typeface="Times New Roman Bold"/>
                <a:ea typeface="Times New Roman Bold"/>
                <a:cs typeface="Times New Roman Bold"/>
                <a:sym typeface="Times New Roman Bold"/>
              </a:rPr>
              <a:t>Under the Guidance Of</a:t>
            </a:r>
          </a:p>
          <a:p>
            <a:pPr algn="l">
              <a:lnSpc>
                <a:spcPts val="4480"/>
              </a:lnSpc>
            </a:pPr>
            <a:r>
              <a:rPr lang="en-US" sz="2799">
                <a:solidFill>
                  <a:srgbClr val="FFFFFF"/>
                </a:solidFill>
                <a:latin typeface="Times New Roman"/>
                <a:ea typeface="Times New Roman"/>
                <a:cs typeface="Times New Roman"/>
                <a:sym typeface="Times New Roman"/>
              </a:rPr>
              <a:t>Asst Prof . Harshitha H D</a:t>
            </a:r>
          </a:p>
        </p:txBody>
      </p:sp>
      <p:sp>
        <p:nvSpPr>
          <p:cNvPr id="11" name="TextBox 11"/>
          <p:cNvSpPr txBox="1"/>
          <p:nvPr/>
        </p:nvSpPr>
        <p:spPr>
          <a:xfrm>
            <a:off x="4317111" y="599027"/>
            <a:ext cx="8615705" cy="1652226"/>
          </a:xfrm>
          <a:prstGeom prst="rect">
            <a:avLst/>
          </a:prstGeom>
        </p:spPr>
        <p:txBody>
          <a:bodyPr lIns="0" tIns="0" rIns="0" bIns="0" rtlCol="0" anchor="t">
            <a:spAutoFit/>
          </a:bodyPr>
          <a:lstStyle/>
          <a:p>
            <a:pPr algn="ctr">
              <a:lnSpc>
                <a:spcPts val="4320"/>
              </a:lnSpc>
            </a:pPr>
            <a:r>
              <a:rPr lang="en-US" sz="3600" b="1">
                <a:solidFill>
                  <a:srgbClr val="F2F2F2"/>
                </a:solidFill>
                <a:latin typeface="Roboto Bold"/>
                <a:ea typeface="Roboto Bold"/>
                <a:cs typeface="Roboto Bold"/>
                <a:sym typeface="Roboto Bold"/>
              </a:rPr>
              <a:t>Dept. of CS&amp;E ( DATA SCIENCE) Adichunchanagiri Institute of Technology Chikkamagaluru - 577102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7006" y="8839"/>
            <a:ext cx="18541994" cy="10405148"/>
          </a:xfrm>
          <a:custGeom>
            <a:avLst/>
            <a:gdLst/>
            <a:ahLst/>
            <a:cxnLst/>
            <a:rect l="l" t="t" r="r" b="b"/>
            <a:pathLst>
              <a:path w="18541994" h="10405148">
                <a:moveTo>
                  <a:pt x="0" y="0"/>
                </a:moveTo>
                <a:lnTo>
                  <a:pt x="18541993" y="0"/>
                </a:lnTo>
                <a:lnTo>
                  <a:pt x="18541993" y="10405148"/>
                </a:lnTo>
                <a:lnTo>
                  <a:pt x="0" y="1040514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a:off x="131436" y="339928"/>
            <a:ext cx="1319704" cy="981380"/>
          </a:xfrm>
          <a:custGeom>
            <a:avLst/>
            <a:gdLst/>
            <a:ahLst/>
            <a:cxnLst/>
            <a:rect l="l" t="t" r="r" b="b"/>
            <a:pathLst>
              <a:path w="1319704" h="981380">
                <a:moveTo>
                  <a:pt x="0" y="0"/>
                </a:moveTo>
                <a:lnTo>
                  <a:pt x="1319704" y="0"/>
                </a:lnTo>
                <a:lnTo>
                  <a:pt x="1319704" y="981380"/>
                </a:lnTo>
                <a:lnTo>
                  <a:pt x="0" y="98138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4" name="TextBox 4"/>
          <p:cNvSpPr txBox="1"/>
          <p:nvPr/>
        </p:nvSpPr>
        <p:spPr>
          <a:xfrm>
            <a:off x="7798346" y="235153"/>
            <a:ext cx="2742800" cy="922915"/>
          </a:xfrm>
          <a:prstGeom prst="rect">
            <a:avLst/>
          </a:prstGeom>
        </p:spPr>
        <p:txBody>
          <a:bodyPr lIns="0" tIns="0" rIns="0" bIns="0" rtlCol="0" anchor="t">
            <a:spAutoFit/>
          </a:bodyPr>
          <a:lstStyle/>
          <a:p>
            <a:pPr algn="l">
              <a:lnSpc>
                <a:spcPts val="7559"/>
              </a:lnSpc>
            </a:pPr>
            <a:r>
              <a:rPr lang="en-US" sz="5400" b="1">
                <a:solidFill>
                  <a:srgbClr val="2A3990"/>
                </a:solidFill>
                <a:latin typeface="Roboto Bold"/>
                <a:ea typeface="Roboto Bold"/>
                <a:cs typeface="Roboto Bold"/>
                <a:sym typeface="Roboto Bold"/>
              </a:rPr>
              <a:t>AGENDA</a:t>
            </a:r>
          </a:p>
        </p:txBody>
      </p:sp>
      <p:sp>
        <p:nvSpPr>
          <p:cNvPr id="5" name="TextBox 5"/>
          <p:cNvSpPr txBox="1"/>
          <p:nvPr/>
        </p:nvSpPr>
        <p:spPr>
          <a:xfrm>
            <a:off x="1028700" y="933450"/>
            <a:ext cx="7434758" cy="8407751"/>
          </a:xfrm>
          <a:prstGeom prst="rect">
            <a:avLst/>
          </a:prstGeom>
        </p:spPr>
        <p:txBody>
          <a:bodyPr lIns="0" tIns="0" rIns="0" bIns="0" rtlCol="0" anchor="t">
            <a:spAutoFit/>
          </a:bodyPr>
          <a:lstStyle/>
          <a:p>
            <a:pPr algn="l">
              <a:lnSpc>
                <a:spcPts val="5520"/>
              </a:lnSpc>
            </a:pPr>
            <a:endParaRPr dirty="0"/>
          </a:p>
          <a:p>
            <a:pPr marL="863604" lvl="1" indent="-431802" algn="l">
              <a:lnSpc>
                <a:spcPts val="5520"/>
              </a:lnSpc>
              <a:buFont typeface="Arial"/>
              <a:buChar char="•"/>
            </a:pPr>
            <a:r>
              <a:rPr lang="en-US" sz="4000" b="1" dirty="0">
                <a:solidFill>
                  <a:srgbClr val="434343"/>
                </a:solidFill>
                <a:latin typeface="Times New Roman Bold"/>
                <a:ea typeface="Times New Roman Bold"/>
                <a:cs typeface="Times New Roman Bold"/>
                <a:sym typeface="Times New Roman Bold"/>
              </a:rPr>
              <a:t>Problem Statement</a:t>
            </a:r>
          </a:p>
          <a:p>
            <a:pPr marL="863604" lvl="1" indent="-431802" algn="l">
              <a:lnSpc>
                <a:spcPts val="5520"/>
              </a:lnSpc>
              <a:buFont typeface="Arial"/>
              <a:buChar char="•"/>
            </a:pPr>
            <a:r>
              <a:rPr lang="en-US" sz="4000" b="1" dirty="0">
                <a:solidFill>
                  <a:srgbClr val="434343"/>
                </a:solidFill>
                <a:latin typeface="Times New Roman Bold"/>
                <a:ea typeface="Times New Roman Bold"/>
                <a:cs typeface="Times New Roman Bold"/>
                <a:sym typeface="Times New Roman Bold"/>
              </a:rPr>
              <a:t>Scope of the Project</a:t>
            </a:r>
          </a:p>
          <a:p>
            <a:pPr marL="863604" lvl="1" indent="-431802" algn="l">
              <a:lnSpc>
                <a:spcPts val="5520"/>
              </a:lnSpc>
              <a:buFont typeface="Arial"/>
              <a:buChar char="•"/>
            </a:pPr>
            <a:r>
              <a:rPr lang="en-US" sz="4000" b="1" dirty="0">
                <a:solidFill>
                  <a:srgbClr val="434343"/>
                </a:solidFill>
                <a:latin typeface="Times New Roman Bold"/>
                <a:ea typeface="Times New Roman Bold"/>
                <a:cs typeface="Times New Roman Bold"/>
                <a:sym typeface="Times New Roman Bold"/>
              </a:rPr>
              <a:t>Project Design</a:t>
            </a:r>
          </a:p>
          <a:p>
            <a:pPr marL="863604" lvl="1" indent="-431802" algn="l">
              <a:lnSpc>
                <a:spcPts val="5520"/>
              </a:lnSpc>
              <a:buFont typeface="Arial"/>
              <a:buChar char="•"/>
            </a:pPr>
            <a:r>
              <a:rPr lang="en-US" sz="4000" b="1" dirty="0">
                <a:solidFill>
                  <a:srgbClr val="434343"/>
                </a:solidFill>
                <a:latin typeface="Times New Roman Bold"/>
                <a:ea typeface="Times New Roman Bold"/>
                <a:cs typeface="Times New Roman Bold"/>
                <a:sym typeface="Times New Roman Bold"/>
              </a:rPr>
              <a:t>Methodology</a:t>
            </a:r>
          </a:p>
          <a:p>
            <a:pPr marL="863604" lvl="1" indent="-431802" algn="l">
              <a:lnSpc>
                <a:spcPts val="5520"/>
              </a:lnSpc>
              <a:buFont typeface="Arial"/>
              <a:buChar char="•"/>
            </a:pPr>
            <a:r>
              <a:rPr lang="en-US" sz="4000" b="1" dirty="0">
                <a:solidFill>
                  <a:srgbClr val="434343"/>
                </a:solidFill>
                <a:latin typeface="Times New Roman Bold"/>
                <a:ea typeface="Times New Roman Bold"/>
                <a:cs typeface="Times New Roman Bold"/>
                <a:sym typeface="Times New Roman Bold"/>
              </a:rPr>
              <a:t>Implementation</a:t>
            </a:r>
          </a:p>
          <a:p>
            <a:pPr marL="863604" lvl="1" indent="-431802" algn="l">
              <a:lnSpc>
                <a:spcPts val="5520"/>
              </a:lnSpc>
              <a:buFont typeface="Arial"/>
              <a:buChar char="•"/>
            </a:pPr>
            <a:r>
              <a:rPr lang="en-US" sz="4000" b="1" dirty="0">
                <a:solidFill>
                  <a:srgbClr val="434343"/>
                </a:solidFill>
                <a:latin typeface="Times New Roman Bold"/>
                <a:ea typeface="Times New Roman Bold"/>
                <a:cs typeface="Times New Roman Bold"/>
                <a:sym typeface="Times New Roman Bold"/>
              </a:rPr>
              <a:t>Challenges Faced</a:t>
            </a:r>
          </a:p>
          <a:p>
            <a:pPr marL="863604" lvl="1" indent="-431802" algn="l">
              <a:lnSpc>
                <a:spcPts val="5520"/>
              </a:lnSpc>
              <a:buFont typeface="Arial"/>
              <a:buChar char="•"/>
            </a:pPr>
            <a:r>
              <a:rPr lang="en-US" sz="4000" b="1" dirty="0">
                <a:solidFill>
                  <a:srgbClr val="434343"/>
                </a:solidFill>
                <a:latin typeface="Times New Roman Bold"/>
                <a:ea typeface="Times New Roman Bold"/>
                <a:cs typeface="Times New Roman Bold"/>
                <a:sym typeface="Times New Roman Bold"/>
              </a:rPr>
              <a:t>Results</a:t>
            </a:r>
          </a:p>
          <a:p>
            <a:pPr marL="863604" lvl="1" indent="-431802" algn="l">
              <a:lnSpc>
                <a:spcPts val="5520"/>
              </a:lnSpc>
              <a:buFont typeface="Arial"/>
              <a:buChar char="•"/>
            </a:pPr>
            <a:r>
              <a:rPr lang="en-US" sz="4000" b="1" dirty="0">
                <a:solidFill>
                  <a:srgbClr val="434343"/>
                </a:solidFill>
                <a:latin typeface="Times New Roman Bold"/>
                <a:ea typeface="Times New Roman Bold"/>
                <a:cs typeface="Times New Roman Bold"/>
                <a:sym typeface="Times New Roman Bold"/>
              </a:rPr>
              <a:t>Conclusion</a:t>
            </a:r>
          </a:p>
          <a:p>
            <a:pPr marL="863604" lvl="1" indent="-431802" algn="l">
              <a:lnSpc>
                <a:spcPts val="5520"/>
              </a:lnSpc>
              <a:buFont typeface="Arial"/>
              <a:buChar char="•"/>
            </a:pPr>
            <a:r>
              <a:rPr lang="en-US" sz="4000" b="1" dirty="0">
                <a:solidFill>
                  <a:srgbClr val="434343"/>
                </a:solidFill>
                <a:latin typeface="Times New Roman Bold"/>
                <a:ea typeface="Times New Roman Bold"/>
                <a:cs typeface="Times New Roman Bold"/>
                <a:sym typeface="Times New Roman Bold"/>
              </a:rPr>
              <a:t>Future Work</a:t>
            </a:r>
          </a:p>
          <a:p>
            <a:pPr marL="863604" lvl="1" indent="-431802" algn="l">
              <a:lnSpc>
                <a:spcPts val="5520"/>
              </a:lnSpc>
              <a:buFont typeface="Arial"/>
              <a:buChar char="•"/>
            </a:pPr>
            <a:r>
              <a:rPr lang="en-US" sz="4000" b="1" dirty="0">
                <a:solidFill>
                  <a:srgbClr val="434343"/>
                </a:solidFill>
                <a:latin typeface="Times New Roman Bold"/>
                <a:ea typeface="Times New Roman Bold"/>
                <a:cs typeface="Times New Roman Bold"/>
                <a:sym typeface="Times New Roman Bold"/>
              </a:rPr>
              <a:t>GitHub Link</a:t>
            </a:r>
          </a:p>
          <a:p>
            <a:pPr marL="863604" lvl="1" indent="-431802" algn="l">
              <a:lnSpc>
                <a:spcPts val="5520"/>
              </a:lnSpc>
              <a:buFont typeface="Arial"/>
              <a:buChar char="•"/>
            </a:pPr>
            <a:r>
              <a:rPr lang="en-US" sz="4000" b="1" dirty="0">
                <a:solidFill>
                  <a:srgbClr val="434343"/>
                </a:solidFill>
                <a:latin typeface="Times New Roman Bold"/>
                <a:ea typeface="Times New Roman Bold"/>
                <a:cs typeface="Times New Roman Bold"/>
                <a:sym typeface="Times New Roman Bold"/>
              </a:rPr>
              <a:t>Question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6997" y="1534224"/>
            <a:ext cx="18541994" cy="8870924"/>
          </a:xfrm>
          <a:custGeom>
            <a:avLst/>
            <a:gdLst/>
            <a:ahLst/>
            <a:cxnLst/>
            <a:rect l="l" t="t" r="r" b="b"/>
            <a:pathLst>
              <a:path w="18541994" h="8870924">
                <a:moveTo>
                  <a:pt x="0" y="0"/>
                </a:moveTo>
                <a:lnTo>
                  <a:pt x="18541994" y="0"/>
                </a:lnTo>
                <a:lnTo>
                  <a:pt x="18541994" y="8870924"/>
                </a:lnTo>
                <a:lnTo>
                  <a:pt x="0" y="8870924"/>
                </a:lnTo>
                <a:lnTo>
                  <a:pt x="0" y="0"/>
                </a:lnTo>
                <a:close/>
              </a:path>
            </a:pathLst>
          </a:custGeom>
          <a:blipFill>
            <a:blip r:embed="rId2">
              <a:extLst>
                <a:ext uri="{96DAC541-7B7A-43D3-8B79-37D633B846F1}">
                  <asvg:svgBlip xmlns:asvg="http://schemas.microsoft.com/office/drawing/2016/SVG/main" r:embed="rId3"/>
                </a:ext>
              </a:extLst>
            </a:blip>
            <a:stretch>
              <a:fillRect t="-17294"/>
            </a:stretch>
          </a:blipFill>
        </p:spPr>
        <p:txBody>
          <a:bodyPr/>
          <a:lstStyle/>
          <a:p>
            <a:endParaRPr lang="en-IN"/>
          </a:p>
        </p:txBody>
      </p:sp>
      <p:sp>
        <p:nvSpPr>
          <p:cNvPr id="3" name="Freeform 3"/>
          <p:cNvSpPr/>
          <p:nvPr/>
        </p:nvSpPr>
        <p:spPr>
          <a:xfrm>
            <a:off x="131436" y="339928"/>
            <a:ext cx="1474433" cy="1096442"/>
          </a:xfrm>
          <a:custGeom>
            <a:avLst/>
            <a:gdLst/>
            <a:ahLst/>
            <a:cxnLst/>
            <a:rect l="l" t="t" r="r" b="b"/>
            <a:pathLst>
              <a:path w="1474433" h="1096442">
                <a:moveTo>
                  <a:pt x="0" y="0"/>
                </a:moveTo>
                <a:lnTo>
                  <a:pt x="1474433" y="0"/>
                </a:lnTo>
                <a:lnTo>
                  <a:pt x="1474433" y="1096442"/>
                </a:lnTo>
                <a:lnTo>
                  <a:pt x="0" y="109644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5" name="TextBox 5"/>
          <p:cNvSpPr txBox="1"/>
          <p:nvPr/>
        </p:nvSpPr>
        <p:spPr>
          <a:xfrm>
            <a:off x="5206497" y="516255"/>
            <a:ext cx="7875007" cy="920115"/>
          </a:xfrm>
          <a:prstGeom prst="rect">
            <a:avLst/>
          </a:prstGeom>
        </p:spPr>
        <p:txBody>
          <a:bodyPr lIns="0" tIns="0" rIns="0" bIns="0" rtlCol="0" anchor="t">
            <a:spAutoFit/>
          </a:bodyPr>
          <a:lstStyle/>
          <a:p>
            <a:pPr algn="l">
              <a:lnSpc>
                <a:spcPts val="7559"/>
              </a:lnSpc>
            </a:pPr>
            <a:r>
              <a:rPr lang="en-US" sz="5400" b="1" u="sng">
                <a:solidFill>
                  <a:srgbClr val="2A3990"/>
                </a:solidFill>
                <a:latin typeface="Roboto Bold"/>
                <a:ea typeface="Roboto Bold"/>
                <a:cs typeface="Roboto Bold"/>
                <a:sym typeface="Roboto Bold"/>
              </a:rPr>
              <a:t>PROBLEM  STATEMENT</a:t>
            </a:r>
          </a:p>
        </p:txBody>
      </p:sp>
      <p:sp>
        <p:nvSpPr>
          <p:cNvPr id="6" name="TextBox 6"/>
          <p:cNvSpPr txBox="1"/>
          <p:nvPr/>
        </p:nvSpPr>
        <p:spPr>
          <a:xfrm>
            <a:off x="1279127" y="2619938"/>
            <a:ext cx="15729745" cy="2512676"/>
          </a:xfrm>
          <a:prstGeom prst="rect">
            <a:avLst/>
          </a:prstGeom>
        </p:spPr>
        <p:txBody>
          <a:bodyPr lIns="0" tIns="0" rIns="0" bIns="0" rtlCol="0" anchor="t">
            <a:spAutoFit/>
          </a:bodyPr>
          <a:lstStyle/>
          <a:p>
            <a:pPr>
              <a:lnSpc>
                <a:spcPts val="5040"/>
              </a:lnSpc>
            </a:pPr>
            <a:r>
              <a:rPr lang="en-US" sz="3600" dirty="0">
                <a:latin typeface="Times New Roman" panose="02020603050405020304" pitchFamily="18" charset="0"/>
                <a:cs typeface="Times New Roman" panose="02020603050405020304" pitchFamily="18" charset="0"/>
              </a:rPr>
              <a:t>	This platform provides doctors with instant access to patient medical history using phone number, name and place. AI modules summarize history and highlight emergency risks, ensuring faster, safer treatment and preventing loss of life due to inaccessible records.</a:t>
            </a:r>
            <a:endParaRPr lang="en-US" sz="3600" dirty="0">
              <a:solidFill>
                <a:srgbClr val="000000"/>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1266" y="1469211"/>
            <a:ext cx="18530532" cy="8977043"/>
          </a:xfrm>
          <a:custGeom>
            <a:avLst/>
            <a:gdLst/>
            <a:ahLst/>
            <a:cxnLst/>
            <a:rect l="l" t="t" r="r" b="b"/>
            <a:pathLst>
              <a:path w="18530532" h="8977043">
                <a:moveTo>
                  <a:pt x="0" y="0"/>
                </a:moveTo>
                <a:lnTo>
                  <a:pt x="18530532" y="0"/>
                </a:lnTo>
                <a:lnTo>
                  <a:pt x="18530532" y="8977043"/>
                </a:lnTo>
                <a:lnTo>
                  <a:pt x="0" y="8977043"/>
                </a:lnTo>
                <a:lnTo>
                  <a:pt x="0" y="0"/>
                </a:lnTo>
                <a:close/>
              </a:path>
            </a:pathLst>
          </a:custGeom>
          <a:blipFill>
            <a:blip r:embed="rId2">
              <a:extLst>
                <a:ext uri="{96DAC541-7B7A-43D3-8B79-37D633B846F1}">
                  <asvg:svgBlip xmlns:asvg="http://schemas.microsoft.com/office/drawing/2016/SVG/main" r:embed="rId3"/>
                </a:ext>
              </a:extLst>
            </a:blip>
            <a:stretch>
              <a:fillRect t="-15251"/>
            </a:stretch>
          </a:blipFill>
        </p:spPr>
        <p:txBody>
          <a:bodyPr/>
          <a:lstStyle/>
          <a:p>
            <a:endParaRPr lang="en-IN"/>
          </a:p>
        </p:txBody>
      </p:sp>
      <p:sp>
        <p:nvSpPr>
          <p:cNvPr id="3" name="Freeform 3"/>
          <p:cNvSpPr/>
          <p:nvPr/>
        </p:nvSpPr>
        <p:spPr>
          <a:xfrm>
            <a:off x="131436" y="339928"/>
            <a:ext cx="1318353" cy="980375"/>
          </a:xfrm>
          <a:custGeom>
            <a:avLst/>
            <a:gdLst/>
            <a:ahLst/>
            <a:cxnLst/>
            <a:rect l="l" t="t" r="r" b="b"/>
            <a:pathLst>
              <a:path w="1318353" h="980375">
                <a:moveTo>
                  <a:pt x="0" y="0"/>
                </a:moveTo>
                <a:lnTo>
                  <a:pt x="1318353" y="0"/>
                </a:lnTo>
                <a:lnTo>
                  <a:pt x="1318353" y="980376"/>
                </a:lnTo>
                <a:lnTo>
                  <a:pt x="0" y="98037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4" name="Freeform 4"/>
          <p:cNvSpPr/>
          <p:nvPr/>
        </p:nvSpPr>
        <p:spPr>
          <a:xfrm>
            <a:off x="12035817" y="4619307"/>
            <a:ext cx="5347173" cy="2971327"/>
          </a:xfrm>
          <a:custGeom>
            <a:avLst/>
            <a:gdLst/>
            <a:ahLst/>
            <a:cxnLst/>
            <a:rect l="l" t="t" r="r" b="b"/>
            <a:pathLst>
              <a:path w="5347173" h="2971327">
                <a:moveTo>
                  <a:pt x="0" y="0"/>
                </a:moveTo>
                <a:lnTo>
                  <a:pt x="5347172" y="0"/>
                </a:lnTo>
                <a:lnTo>
                  <a:pt x="5347172" y="2971327"/>
                </a:lnTo>
                <a:lnTo>
                  <a:pt x="0" y="2971327"/>
                </a:lnTo>
                <a:lnTo>
                  <a:pt x="0" y="0"/>
                </a:lnTo>
                <a:close/>
              </a:path>
            </a:pathLst>
          </a:custGeom>
          <a:blipFill>
            <a:blip r:embed="rId6"/>
            <a:stretch>
              <a:fillRect/>
            </a:stretch>
          </a:blipFill>
        </p:spPr>
        <p:txBody>
          <a:bodyPr/>
          <a:lstStyle/>
          <a:p>
            <a:endParaRPr lang="en-IN"/>
          </a:p>
        </p:txBody>
      </p:sp>
      <p:sp>
        <p:nvSpPr>
          <p:cNvPr id="5" name="TextBox 5"/>
          <p:cNvSpPr txBox="1"/>
          <p:nvPr/>
        </p:nvSpPr>
        <p:spPr>
          <a:xfrm>
            <a:off x="4964050" y="400189"/>
            <a:ext cx="8359900" cy="920115"/>
          </a:xfrm>
          <a:prstGeom prst="rect">
            <a:avLst/>
          </a:prstGeom>
        </p:spPr>
        <p:txBody>
          <a:bodyPr lIns="0" tIns="0" rIns="0" bIns="0" rtlCol="0" anchor="t">
            <a:spAutoFit/>
          </a:bodyPr>
          <a:lstStyle/>
          <a:p>
            <a:pPr algn="l">
              <a:lnSpc>
                <a:spcPts val="7559"/>
              </a:lnSpc>
            </a:pPr>
            <a:r>
              <a:rPr lang="en-US" sz="5400" b="1" u="sng">
                <a:solidFill>
                  <a:srgbClr val="2A3990"/>
                </a:solidFill>
                <a:latin typeface="Roboto Bold"/>
                <a:ea typeface="Roboto Bold"/>
                <a:cs typeface="Roboto Bold"/>
                <a:sym typeface="Roboto Bold"/>
              </a:rPr>
              <a:t>SCOPE OF THE PROJECT</a:t>
            </a:r>
          </a:p>
        </p:txBody>
      </p:sp>
      <p:sp>
        <p:nvSpPr>
          <p:cNvPr id="6" name="TextBox 6"/>
          <p:cNvSpPr txBox="1"/>
          <p:nvPr/>
        </p:nvSpPr>
        <p:spPr>
          <a:xfrm>
            <a:off x="1028700" y="4514760"/>
            <a:ext cx="15729745" cy="4556125"/>
          </a:xfrm>
          <a:prstGeom prst="rect">
            <a:avLst/>
          </a:prstGeom>
        </p:spPr>
        <p:txBody>
          <a:bodyPr lIns="0" tIns="0" rIns="0" bIns="0" rtlCol="0" anchor="t">
            <a:spAutoFit/>
          </a:bodyPr>
          <a:lstStyle/>
          <a:p>
            <a:pPr algn="l">
              <a:lnSpc>
                <a:spcPts val="6159"/>
              </a:lnSpc>
            </a:pPr>
            <a:r>
              <a:rPr lang="en-US" sz="4399" b="1">
                <a:solidFill>
                  <a:srgbClr val="000000"/>
                </a:solidFill>
                <a:latin typeface="Times New Roman Bold"/>
                <a:ea typeface="Times New Roman Bold"/>
                <a:cs typeface="Times New Roman Bold"/>
                <a:sym typeface="Times New Roman Bold"/>
              </a:rPr>
              <a:t>Key Features</a:t>
            </a:r>
          </a:p>
          <a:p>
            <a:pPr marL="777240" lvl="1" indent="-388620" algn="l">
              <a:lnSpc>
                <a:spcPts val="5040"/>
              </a:lnSpc>
              <a:buFont typeface="Arial"/>
              <a:buChar char="•"/>
            </a:pPr>
            <a:r>
              <a:rPr lang="en-US" sz="3600">
                <a:solidFill>
                  <a:srgbClr val="000000"/>
                </a:solidFill>
                <a:latin typeface="Times New Roman"/>
                <a:ea typeface="Times New Roman"/>
                <a:cs typeface="Times New Roman"/>
                <a:sym typeface="Times New Roman"/>
              </a:rPr>
              <a:t>Instant retrieval of patient medical history.</a:t>
            </a:r>
          </a:p>
          <a:p>
            <a:pPr marL="777240" lvl="1" indent="-388620" algn="l">
              <a:lnSpc>
                <a:spcPts val="5040"/>
              </a:lnSpc>
              <a:buFont typeface="Arial"/>
              <a:buChar char="•"/>
            </a:pPr>
            <a:r>
              <a:rPr lang="en-US" sz="3600">
                <a:solidFill>
                  <a:srgbClr val="000000"/>
                </a:solidFill>
                <a:latin typeface="Times New Roman"/>
                <a:ea typeface="Times New Roman"/>
                <a:cs typeface="Times New Roman"/>
                <a:sym typeface="Times New Roman"/>
              </a:rPr>
              <a:t>AI summarizer of medical records.</a:t>
            </a:r>
          </a:p>
          <a:p>
            <a:pPr marL="777240" lvl="1" indent="-388620" algn="l">
              <a:lnSpc>
                <a:spcPts val="5040"/>
              </a:lnSpc>
              <a:buFont typeface="Arial"/>
              <a:buChar char="•"/>
            </a:pPr>
            <a:r>
              <a:rPr lang="en-US" sz="3600">
                <a:solidFill>
                  <a:srgbClr val="000000"/>
                </a:solidFill>
                <a:latin typeface="Times New Roman"/>
                <a:ea typeface="Times New Roman"/>
                <a:cs typeface="Times New Roman"/>
                <a:sym typeface="Times New Roman"/>
              </a:rPr>
              <a:t>Emergency risk indicator.</a:t>
            </a:r>
          </a:p>
          <a:p>
            <a:pPr marL="777240" lvl="1" indent="-388620" algn="l">
              <a:lnSpc>
                <a:spcPts val="5040"/>
              </a:lnSpc>
              <a:buFont typeface="Arial"/>
              <a:buChar char="•"/>
            </a:pPr>
            <a:r>
              <a:rPr lang="en-US" sz="3600">
                <a:solidFill>
                  <a:srgbClr val="000000"/>
                </a:solidFill>
                <a:latin typeface="Times New Roman"/>
                <a:ea typeface="Times New Roman"/>
                <a:cs typeface="Times New Roman"/>
                <a:sym typeface="Times New Roman"/>
              </a:rPr>
              <a:t>Useful for hospitals, emergency wards, and doctors.</a:t>
            </a:r>
          </a:p>
          <a:p>
            <a:pPr marL="777240" lvl="1" indent="-388620" algn="l">
              <a:lnSpc>
                <a:spcPts val="5040"/>
              </a:lnSpc>
              <a:buFont typeface="Arial"/>
              <a:buChar char="•"/>
            </a:pPr>
            <a:r>
              <a:rPr lang="en-US" sz="3600">
                <a:solidFill>
                  <a:srgbClr val="000000"/>
                </a:solidFill>
                <a:latin typeface="Times New Roman"/>
                <a:ea typeface="Times New Roman"/>
                <a:cs typeface="Times New Roman"/>
                <a:sym typeface="Times New Roman"/>
              </a:rPr>
              <a:t>Allow multi-mode search: health ID , phone number and name.</a:t>
            </a:r>
          </a:p>
          <a:p>
            <a:pPr algn="l">
              <a:lnSpc>
                <a:spcPts val="5040"/>
              </a:lnSpc>
            </a:pPr>
            <a:endParaRPr lang="en-US" sz="3600">
              <a:solidFill>
                <a:srgbClr val="000000"/>
              </a:solidFill>
              <a:latin typeface="Times New Roman"/>
              <a:ea typeface="Times New Roman"/>
              <a:cs typeface="Times New Roman"/>
              <a:sym typeface="Times New Roman"/>
            </a:endParaRPr>
          </a:p>
        </p:txBody>
      </p:sp>
      <p:sp>
        <p:nvSpPr>
          <p:cNvPr id="7" name="TextBox 7"/>
          <p:cNvSpPr txBox="1"/>
          <p:nvPr/>
        </p:nvSpPr>
        <p:spPr>
          <a:xfrm>
            <a:off x="1028700" y="1662975"/>
            <a:ext cx="16230600" cy="2518410"/>
          </a:xfrm>
          <a:prstGeom prst="rect">
            <a:avLst/>
          </a:prstGeom>
        </p:spPr>
        <p:txBody>
          <a:bodyPr lIns="0" tIns="0" rIns="0" bIns="0" rtlCol="0" anchor="t">
            <a:spAutoFit/>
          </a:bodyPr>
          <a:lstStyle/>
          <a:p>
            <a:pPr algn="l">
              <a:lnSpc>
                <a:spcPts val="5040"/>
              </a:lnSpc>
            </a:pPr>
            <a:r>
              <a:rPr lang="en-US" sz="3600">
                <a:solidFill>
                  <a:srgbClr val="000000"/>
                </a:solidFill>
                <a:latin typeface="Times New Roman"/>
                <a:ea typeface="Times New Roman"/>
                <a:cs typeface="Times New Roman"/>
                <a:sym typeface="Times New Roman"/>
              </a:rPr>
              <a:t>MediScan AI focuses on providing instant access to patient medical history using AI summarizer. It aims to support doctors during emergencies by delivering quick, accurate, and reliable health information. The system enhances emergency decision-making through data retrieval and risk indicator.</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6997" y="1622273"/>
            <a:ext cx="18541994" cy="8844974"/>
          </a:xfrm>
          <a:custGeom>
            <a:avLst/>
            <a:gdLst/>
            <a:ahLst/>
            <a:cxnLst/>
            <a:rect l="l" t="t" r="r" b="b"/>
            <a:pathLst>
              <a:path w="18541994" h="8844974">
                <a:moveTo>
                  <a:pt x="0" y="0"/>
                </a:moveTo>
                <a:lnTo>
                  <a:pt x="18541994" y="0"/>
                </a:lnTo>
                <a:lnTo>
                  <a:pt x="18541994" y="8844974"/>
                </a:lnTo>
                <a:lnTo>
                  <a:pt x="0" y="8844974"/>
                </a:lnTo>
                <a:lnTo>
                  <a:pt x="0" y="0"/>
                </a:lnTo>
                <a:close/>
              </a:path>
            </a:pathLst>
          </a:custGeom>
          <a:blipFill>
            <a:blip r:embed="rId2">
              <a:extLst>
                <a:ext uri="{96DAC541-7B7A-43D3-8B79-37D633B846F1}">
                  <asvg:svgBlip xmlns:asvg="http://schemas.microsoft.com/office/drawing/2016/SVG/main" r:embed="rId3"/>
                </a:ext>
              </a:extLst>
            </a:blip>
            <a:stretch>
              <a:fillRect t="-14961"/>
            </a:stretch>
          </a:blipFill>
        </p:spPr>
        <p:txBody>
          <a:bodyPr/>
          <a:lstStyle/>
          <a:p>
            <a:endParaRPr lang="en-IN"/>
          </a:p>
        </p:txBody>
      </p:sp>
      <p:sp>
        <p:nvSpPr>
          <p:cNvPr id="3" name="TextBox 3"/>
          <p:cNvSpPr txBox="1"/>
          <p:nvPr/>
        </p:nvSpPr>
        <p:spPr>
          <a:xfrm>
            <a:off x="1028700" y="1339215"/>
            <a:ext cx="10153614" cy="7484745"/>
          </a:xfrm>
          <a:prstGeom prst="rect">
            <a:avLst/>
          </a:prstGeom>
        </p:spPr>
        <p:txBody>
          <a:bodyPr lIns="0" tIns="0" rIns="0" bIns="0" rtlCol="0" anchor="t">
            <a:spAutoFit/>
          </a:bodyPr>
          <a:lstStyle/>
          <a:p>
            <a:pPr algn="l">
              <a:lnSpc>
                <a:spcPts val="6439"/>
              </a:lnSpc>
            </a:pPr>
            <a:r>
              <a:rPr lang="en-US" sz="4599" b="1">
                <a:solidFill>
                  <a:srgbClr val="000000"/>
                </a:solidFill>
                <a:latin typeface="Times New Roman Bold"/>
                <a:ea typeface="Times New Roman Bold"/>
                <a:cs typeface="Times New Roman Bold"/>
                <a:sym typeface="Times New Roman Bold"/>
              </a:rPr>
              <a:t>System components :</a:t>
            </a:r>
          </a:p>
          <a:p>
            <a:pPr algn="l">
              <a:lnSpc>
                <a:spcPts val="5319"/>
              </a:lnSpc>
            </a:pPr>
            <a:r>
              <a:rPr lang="en-US" sz="3799" b="1">
                <a:solidFill>
                  <a:srgbClr val="000000"/>
                </a:solidFill>
                <a:latin typeface="Times New Roman Bold"/>
                <a:ea typeface="Times New Roman Bold"/>
                <a:cs typeface="Times New Roman Bold"/>
                <a:sym typeface="Times New Roman Bold"/>
              </a:rPr>
              <a:t>Frontend:</a:t>
            </a:r>
          </a:p>
          <a:p>
            <a:pPr marL="820419" lvl="1" indent="-410209" algn="l">
              <a:lnSpc>
                <a:spcPts val="5319"/>
              </a:lnSpc>
              <a:buFont typeface="Arial"/>
              <a:buChar char="•"/>
            </a:pPr>
            <a:r>
              <a:rPr lang="en-US" sz="3799" b="1">
                <a:solidFill>
                  <a:srgbClr val="000000"/>
                </a:solidFill>
                <a:latin typeface="Times New Roman Bold"/>
                <a:ea typeface="Times New Roman Bold"/>
                <a:cs typeface="Times New Roman Bold"/>
                <a:sym typeface="Times New Roman Bold"/>
              </a:rPr>
              <a:t>Framework:</a:t>
            </a:r>
            <a:r>
              <a:rPr lang="en-US" sz="3799">
                <a:solidFill>
                  <a:srgbClr val="000000"/>
                </a:solidFill>
                <a:latin typeface="Times New Roman"/>
                <a:ea typeface="Times New Roman"/>
                <a:cs typeface="Times New Roman"/>
                <a:sym typeface="Times New Roman"/>
              </a:rPr>
              <a:t> React (v18) built with Vite, Capacitor (Mobile)</a:t>
            </a:r>
          </a:p>
          <a:p>
            <a:pPr marL="820419" lvl="1" indent="-410209" algn="l">
              <a:lnSpc>
                <a:spcPts val="5319"/>
              </a:lnSpc>
              <a:buFont typeface="Arial"/>
              <a:buChar char="•"/>
            </a:pPr>
            <a:r>
              <a:rPr lang="en-US" sz="3799" b="1">
                <a:solidFill>
                  <a:srgbClr val="000000"/>
                </a:solidFill>
                <a:latin typeface="Times New Roman Bold"/>
                <a:ea typeface="Times New Roman Bold"/>
                <a:cs typeface="Times New Roman Bold"/>
                <a:sym typeface="Times New Roman Bold"/>
              </a:rPr>
              <a:t>Language:</a:t>
            </a:r>
            <a:r>
              <a:rPr lang="en-US" sz="3799">
                <a:solidFill>
                  <a:srgbClr val="000000"/>
                </a:solidFill>
                <a:latin typeface="Times New Roman"/>
                <a:ea typeface="Times New Roman"/>
                <a:cs typeface="Times New Roman"/>
                <a:sym typeface="Times New Roman"/>
              </a:rPr>
              <a:t> TypeScript.</a:t>
            </a:r>
          </a:p>
          <a:p>
            <a:pPr marL="820419" lvl="1" indent="-410209" algn="l">
              <a:lnSpc>
                <a:spcPts val="5319"/>
              </a:lnSpc>
              <a:buFont typeface="Arial"/>
              <a:buChar char="•"/>
            </a:pPr>
            <a:r>
              <a:rPr lang="en-US" sz="3799" b="1">
                <a:solidFill>
                  <a:srgbClr val="000000"/>
                </a:solidFill>
                <a:latin typeface="Times New Roman Bold"/>
                <a:ea typeface="Times New Roman Bold"/>
                <a:cs typeface="Times New Roman Bold"/>
                <a:sym typeface="Times New Roman Bold"/>
              </a:rPr>
              <a:t>Styling:</a:t>
            </a:r>
            <a:r>
              <a:rPr lang="en-US" sz="3799">
                <a:solidFill>
                  <a:srgbClr val="000000"/>
                </a:solidFill>
                <a:latin typeface="Times New Roman"/>
                <a:ea typeface="Times New Roman"/>
                <a:cs typeface="Times New Roman"/>
                <a:sym typeface="Times New Roman"/>
              </a:rPr>
              <a:t> Tailwind CSS.</a:t>
            </a:r>
          </a:p>
          <a:p>
            <a:pPr algn="l">
              <a:lnSpc>
                <a:spcPts val="5319"/>
              </a:lnSpc>
            </a:pPr>
            <a:r>
              <a:rPr lang="en-US" sz="3799" b="1">
                <a:solidFill>
                  <a:srgbClr val="000000"/>
                </a:solidFill>
                <a:latin typeface="Times New Roman Bold"/>
                <a:ea typeface="Times New Roman Bold"/>
                <a:cs typeface="Times New Roman Bold"/>
                <a:sym typeface="Times New Roman Bold"/>
              </a:rPr>
              <a:t>Backend:</a:t>
            </a:r>
          </a:p>
          <a:p>
            <a:pPr marL="820419" lvl="1" indent="-410209" algn="l">
              <a:lnSpc>
                <a:spcPts val="5319"/>
              </a:lnSpc>
              <a:buFont typeface="Arial"/>
              <a:buChar char="•"/>
            </a:pPr>
            <a:r>
              <a:rPr lang="en-US" sz="3799" b="1">
                <a:solidFill>
                  <a:srgbClr val="000000"/>
                </a:solidFill>
                <a:latin typeface="Times New Roman Bold"/>
                <a:ea typeface="Times New Roman Bold"/>
                <a:cs typeface="Times New Roman Bold"/>
                <a:sym typeface="Times New Roman Bold"/>
              </a:rPr>
              <a:t>Runtime:</a:t>
            </a:r>
            <a:r>
              <a:rPr lang="en-US" sz="3799">
                <a:solidFill>
                  <a:srgbClr val="000000"/>
                </a:solidFill>
                <a:latin typeface="Times New Roman"/>
                <a:ea typeface="Times New Roman"/>
                <a:cs typeface="Times New Roman"/>
                <a:sym typeface="Times New Roman"/>
              </a:rPr>
              <a:t> Node.js.</a:t>
            </a:r>
          </a:p>
          <a:p>
            <a:pPr marL="820419" lvl="1" indent="-410209" algn="l">
              <a:lnSpc>
                <a:spcPts val="5319"/>
              </a:lnSpc>
              <a:buFont typeface="Arial"/>
              <a:buChar char="•"/>
            </a:pPr>
            <a:r>
              <a:rPr lang="en-US" sz="3799" b="1">
                <a:solidFill>
                  <a:srgbClr val="000000"/>
                </a:solidFill>
                <a:latin typeface="Times New Roman Bold"/>
                <a:ea typeface="Times New Roman Bold"/>
                <a:cs typeface="Times New Roman Bold"/>
                <a:sym typeface="Times New Roman Bold"/>
              </a:rPr>
              <a:t>Framework:</a:t>
            </a:r>
            <a:r>
              <a:rPr lang="en-US" sz="3799">
                <a:solidFill>
                  <a:srgbClr val="000000"/>
                </a:solidFill>
                <a:latin typeface="Times New Roman"/>
                <a:ea typeface="Times New Roman"/>
                <a:cs typeface="Times New Roman"/>
                <a:sym typeface="Times New Roman"/>
              </a:rPr>
              <a:t> Express.js.</a:t>
            </a:r>
          </a:p>
          <a:p>
            <a:pPr marL="820419" lvl="1" indent="-410209" algn="l">
              <a:lnSpc>
                <a:spcPts val="5319"/>
              </a:lnSpc>
              <a:buFont typeface="Arial"/>
              <a:buChar char="•"/>
            </a:pPr>
            <a:r>
              <a:rPr lang="en-US" sz="3799" b="1">
                <a:solidFill>
                  <a:srgbClr val="000000"/>
                </a:solidFill>
                <a:latin typeface="Times New Roman Bold"/>
                <a:ea typeface="Times New Roman Bold"/>
                <a:cs typeface="Times New Roman Bold"/>
                <a:sym typeface="Times New Roman Bold"/>
              </a:rPr>
              <a:t>Language:</a:t>
            </a:r>
            <a:r>
              <a:rPr lang="en-US" sz="3799">
                <a:solidFill>
                  <a:srgbClr val="000000"/>
                </a:solidFill>
                <a:latin typeface="Times New Roman"/>
                <a:ea typeface="Times New Roman"/>
                <a:cs typeface="Times New Roman"/>
                <a:sym typeface="Times New Roman"/>
              </a:rPr>
              <a:t> TypeScript, Python.</a:t>
            </a:r>
          </a:p>
          <a:p>
            <a:pPr marL="820419" lvl="1" indent="-410209" algn="l">
              <a:lnSpc>
                <a:spcPts val="5319"/>
              </a:lnSpc>
              <a:buFont typeface="Arial"/>
              <a:buChar char="•"/>
            </a:pPr>
            <a:r>
              <a:rPr lang="en-US" sz="3799" b="1">
                <a:solidFill>
                  <a:srgbClr val="000000"/>
                </a:solidFill>
                <a:latin typeface="Times New Roman Bold"/>
                <a:ea typeface="Times New Roman Bold"/>
                <a:cs typeface="Times New Roman Bold"/>
                <a:sym typeface="Times New Roman Bold"/>
              </a:rPr>
              <a:t>API Architecture:</a:t>
            </a:r>
            <a:r>
              <a:rPr lang="en-US" sz="3799">
                <a:solidFill>
                  <a:srgbClr val="000000"/>
                </a:solidFill>
                <a:latin typeface="Times New Roman"/>
                <a:ea typeface="Times New Roman"/>
                <a:cs typeface="Times New Roman"/>
                <a:sym typeface="Times New Roman"/>
              </a:rPr>
              <a:t> RESTful API structure.</a:t>
            </a:r>
          </a:p>
        </p:txBody>
      </p:sp>
      <p:sp>
        <p:nvSpPr>
          <p:cNvPr id="4" name="Freeform 4"/>
          <p:cNvSpPr/>
          <p:nvPr/>
        </p:nvSpPr>
        <p:spPr>
          <a:xfrm>
            <a:off x="0" y="213360"/>
            <a:ext cx="1200475" cy="892717"/>
          </a:xfrm>
          <a:custGeom>
            <a:avLst/>
            <a:gdLst/>
            <a:ahLst/>
            <a:cxnLst/>
            <a:rect l="l" t="t" r="r" b="b"/>
            <a:pathLst>
              <a:path w="1200475" h="892717">
                <a:moveTo>
                  <a:pt x="0" y="0"/>
                </a:moveTo>
                <a:lnTo>
                  <a:pt x="1200475" y="0"/>
                </a:lnTo>
                <a:lnTo>
                  <a:pt x="1200475" y="892717"/>
                </a:lnTo>
                <a:lnTo>
                  <a:pt x="0" y="89271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5" name="Freeform 5"/>
          <p:cNvSpPr/>
          <p:nvPr/>
        </p:nvSpPr>
        <p:spPr>
          <a:xfrm>
            <a:off x="10789630" y="1792619"/>
            <a:ext cx="6705658" cy="4447630"/>
          </a:xfrm>
          <a:custGeom>
            <a:avLst/>
            <a:gdLst/>
            <a:ahLst/>
            <a:cxnLst/>
            <a:rect l="l" t="t" r="r" b="b"/>
            <a:pathLst>
              <a:path w="6705658" h="4447630">
                <a:moveTo>
                  <a:pt x="0" y="0"/>
                </a:moveTo>
                <a:lnTo>
                  <a:pt x="6705658" y="0"/>
                </a:lnTo>
                <a:lnTo>
                  <a:pt x="6705658" y="4447630"/>
                </a:lnTo>
                <a:lnTo>
                  <a:pt x="0" y="4447630"/>
                </a:lnTo>
                <a:lnTo>
                  <a:pt x="0" y="0"/>
                </a:lnTo>
                <a:close/>
              </a:path>
            </a:pathLst>
          </a:custGeom>
          <a:blipFill>
            <a:blip r:embed="rId6"/>
            <a:stretch>
              <a:fillRect/>
            </a:stretch>
          </a:blipFill>
        </p:spPr>
        <p:txBody>
          <a:bodyPr/>
          <a:lstStyle/>
          <a:p>
            <a:endParaRPr lang="en-IN"/>
          </a:p>
        </p:txBody>
      </p:sp>
      <p:sp>
        <p:nvSpPr>
          <p:cNvPr id="6" name="TextBox 6"/>
          <p:cNvSpPr txBox="1"/>
          <p:nvPr/>
        </p:nvSpPr>
        <p:spPr>
          <a:xfrm>
            <a:off x="6299231" y="185962"/>
            <a:ext cx="5689539" cy="920115"/>
          </a:xfrm>
          <a:prstGeom prst="rect">
            <a:avLst/>
          </a:prstGeom>
        </p:spPr>
        <p:txBody>
          <a:bodyPr lIns="0" tIns="0" rIns="0" bIns="0" rtlCol="0" anchor="t">
            <a:spAutoFit/>
          </a:bodyPr>
          <a:lstStyle/>
          <a:p>
            <a:pPr algn="l">
              <a:lnSpc>
                <a:spcPts val="7559"/>
              </a:lnSpc>
            </a:pPr>
            <a:r>
              <a:rPr lang="en-US" sz="5400" b="1" u="sng">
                <a:solidFill>
                  <a:srgbClr val="2A3990"/>
                </a:solidFill>
                <a:latin typeface="Roboto Bold"/>
                <a:ea typeface="Roboto Bold"/>
                <a:cs typeface="Roboto Bold"/>
                <a:sym typeface="Roboto Bold"/>
              </a:rPr>
              <a:t>PROJECT DESIGN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6997" y="1622273"/>
            <a:ext cx="18541994" cy="8844974"/>
          </a:xfrm>
          <a:custGeom>
            <a:avLst/>
            <a:gdLst/>
            <a:ahLst/>
            <a:cxnLst/>
            <a:rect l="l" t="t" r="r" b="b"/>
            <a:pathLst>
              <a:path w="18541994" h="8844974">
                <a:moveTo>
                  <a:pt x="0" y="0"/>
                </a:moveTo>
                <a:lnTo>
                  <a:pt x="18541994" y="0"/>
                </a:lnTo>
                <a:lnTo>
                  <a:pt x="18541994" y="8844974"/>
                </a:lnTo>
                <a:lnTo>
                  <a:pt x="0" y="8844974"/>
                </a:lnTo>
                <a:lnTo>
                  <a:pt x="0" y="0"/>
                </a:lnTo>
                <a:close/>
              </a:path>
            </a:pathLst>
          </a:custGeom>
          <a:blipFill>
            <a:blip r:embed="rId2">
              <a:extLst>
                <a:ext uri="{96DAC541-7B7A-43D3-8B79-37D633B846F1}">
                  <asvg:svgBlip xmlns:asvg="http://schemas.microsoft.com/office/drawing/2016/SVG/main" r:embed="rId3"/>
                </a:ext>
              </a:extLst>
            </a:blip>
            <a:stretch>
              <a:fillRect t="-14961"/>
            </a:stretch>
          </a:blipFill>
        </p:spPr>
        <p:txBody>
          <a:bodyPr/>
          <a:lstStyle/>
          <a:p>
            <a:endParaRPr lang="en-IN"/>
          </a:p>
        </p:txBody>
      </p:sp>
      <p:sp>
        <p:nvSpPr>
          <p:cNvPr id="3" name="TextBox 3"/>
          <p:cNvSpPr txBox="1"/>
          <p:nvPr/>
        </p:nvSpPr>
        <p:spPr>
          <a:xfrm>
            <a:off x="1028700" y="1419860"/>
            <a:ext cx="15729745" cy="7342505"/>
          </a:xfrm>
          <a:prstGeom prst="rect">
            <a:avLst/>
          </a:prstGeom>
        </p:spPr>
        <p:txBody>
          <a:bodyPr lIns="0" tIns="0" rIns="0" bIns="0" rtlCol="0" anchor="t">
            <a:spAutoFit/>
          </a:bodyPr>
          <a:lstStyle/>
          <a:p>
            <a:pPr algn="l">
              <a:lnSpc>
                <a:spcPts val="5319"/>
              </a:lnSpc>
            </a:pPr>
            <a:r>
              <a:rPr lang="en-US" sz="3799" b="1">
                <a:solidFill>
                  <a:srgbClr val="000000"/>
                </a:solidFill>
                <a:latin typeface="Times New Roman Bold"/>
                <a:ea typeface="Times New Roman Bold"/>
                <a:cs typeface="Times New Roman Bold"/>
                <a:sym typeface="Times New Roman Bold"/>
              </a:rPr>
              <a:t>Database</a:t>
            </a:r>
            <a:r>
              <a:rPr lang="en-US" sz="3799">
                <a:solidFill>
                  <a:srgbClr val="000000"/>
                </a:solidFill>
                <a:latin typeface="Times New Roman"/>
                <a:ea typeface="Times New Roman"/>
                <a:cs typeface="Times New Roman"/>
                <a:sym typeface="Times New Roman"/>
              </a:rPr>
              <a:t>: MongoDB </a:t>
            </a:r>
          </a:p>
          <a:p>
            <a:pPr marL="820419" lvl="1" indent="-410209" algn="l">
              <a:lnSpc>
                <a:spcPts val="5319"/>
              </a:lnSpc>
              <a:buFont typeface="Arial"/>
              <a:buChar char="•"/>
            </a:pPr>
            <a:r>
              <a:rPr lang="en-US" sz="3799">
                <a:solidFill>
                  <a:srgbClr val="000000"/>
                </a:solidFill>
                <a:latin typeface="Times New Roman"/>
                <a:ea typeface="Times New Roman"/>
                <a:cs typeface="Times New Roman"/>
                <a:sym typeface="Times New Roman"/>
              </a:rPr>
              <a:t>Stores patient data, reports and summaries.</a:t>
            </a:r>
          </a:p>
          <a:p>
            <a:pPr algn="l">
              <a:lnSpc>
                <a:spcPts val="5319"/>
              </a:lnSpc>
            </a:pPr>
            <a:r>
              <a:rPr lang="en-US" sz="3799" b="1">
                <a:solidFill>
                  <a:srgbClr val="000000"/>
                </a:solidFill>
                <a:latin typeface="Times New Roman Bold"/>
                <a:ea typeface="Times New Roman Bold"/>
                <a:cs typeface="Times New Roman Bold"/>
                <a:sym typeface="Times New Roman Bold"/>
              </a:rPr>
              <a:t>AI Components:</a:t>
            </a:r>
          </a:p>
          <a:p>
            <a:pPr marL="820419" lvl="1" indent="-410209" algn="l">
              <a:lnSpc>
                <a:spcPts val="5319"/>
              </a:lnSpc>
              <a:buFont typeface="Arial"/>
              <a:buChar char="•"/>
            </a:pPr>
            <a:r>
              <a:rPr lang="en-US" sz="3799">
                <a:solidFill>
                  <a:srgbClr val="000000"/>
                </a:solidFill>
                <a:latin typeface="Times New Roman"/>
                <a:ea typeface="Times New Roman"/>
                <a:cs typeface="Times New Roman"/>
                <a:sym typeface="Times New Roman"/>
              </a:rPr>
              <a:t>MedCAT → Medical history summarization.</a:t>
            </a:r>
          </a:p>
          <a:p>
            <a:pPr marL="820419" lvl="1" indent="-410209" algn="l">
              <a:lnSpc>
                <a:spcPts val="5319"/>
              </a:lnSpc>
              <a:buFont typeface="Arial"/>
              <a:buChar char="•"/>
            </a:pPr>
            <a:r>
              <a:rPr lang="en-US" sz="3799">
                <a:solidFill>
                  <a:srgbClr val="000000"/>
                </a:solidFill>
                <a:latin typeface="Times New Roman"/>
                <a:ea typeface="Times New Roman"/>
                <a:cs typeface="Times New Roman"/>
                <a:sym typeface="Times New Roman"/>
              </a:rPr>
              <a:t>Tesseract OCR → Extract medical text from reports.</a:t>
            </a:r>
          </a:p>
          <a:p>
            <a:pPr algn="l">
              <a:lnSpc>
                <a:spcPts val="5319"/>
              </a:lnSpc>
            </a:pPr>
            <a:r>
              <a:rPr lang="en-US" sz="3799" b="1">
                <a:solidFill>
                  <a:srgbClr val="000000"/>
                </a:solidFill>
                <a:latin typeface="Times New Roman Bold"/>
                <a:ea typeface="Times New Roman Bold"/>
                <a:cs typeface="Times New Roman Bold"/>
                <a:sym typeface="Times New Roman Bold"/>
              </a:rPr>
              <a:t>Hardware Requirements:</a:t>
            </a:r>
          </a:p>
          <a:p>
            <a:pPr marL="820419" lvl="1" indent="-410209" algn="l">
              <a:lnSpc>
                <a:spcPts val="5319"/>
              </a:lnSpc>
              <a:buFont typeface="Arial"/>
              <a:buChar char="•"/>
            </a:pPr>
            <a:r>
              <a:rPr lang="en-US" sz="3799">
                <a:solidFill>
                  <a:srgbClr val="000000"/>
                </a:solidFill>
                <a:latin typeface="Times New Roman"/>
                <a:ea typeface="Times New Roman"/>
                <a:cs typeface="Times New Roman"/>
                <a:sym typeface="Times New Roman"/>
              </a:rPr>
              <a:t>Camera-enabled devices.</a:t>
            </a:r>
          </a:p>
          <a:p>
            <a:pPr marL="820419" lvl="1" indent="-410209" algn="l">
              <a:lnSpc>
                <a:spcPts val="5319"/>
              </a:lnSpc>
              <a:buFont typeface="Arial"/>
              <a:buChar char="•"/>
            </a:pPr>
            <a:r>
              <a:rPr lang="en-US" sz="3799">
                <a:solidFill>
                  <a:srgbClr val="000000"/>
                </a:solidFill>
                <a:latin typeface="Times New Roman"/>
                <a:ea typeface="Times New Roman"/>
                <a:cs typeface="Times New Roman"/>
                <a:sym typeface="Times New Roman"/>
              </a:rPr>
              <a:t>Smartphones, Tablets.</a:t>
            </a:r>
          </a:p>
          <a:p>
            <a:pPr marL="820419" lvl="1" indent="-410209" algn="l">
              <a:lnSpc>
                <a:spcPts val="5319"/>
              </a:lnSpc>
              <a:buFont typeface="Arial"/>
              <a:buChar char="•"/>
            </a:pPr>
            <a:r>
              <a:rPr lang="en-US" sz="3799">
                <a:solidFill>
                  <a:srgbClr val="000000"/>
                </a:solidFill>
                <a:latin typeface="Times New Roman"/>
                <a:ea typeface="Times New Roman"/>
                <a:cs typeface="Times New Roman"/>
                <a:sym typeface="Times New Roman"/>
              </a:rPr>
              <a:t>Hospital systems.</a:t>
            </a:r>
          </a:p>
          <a:p>
            <a:pPr algn="l">
              <a:lnSpc>
                <a:spcPts val="5319"/>
              </a:lnSpc>
            </a:pPr>
            <a:r>
              <a:rPr lang="en-US" sz="3799" b="1">
                <a:solidFill>
                  <a:srgbClr val="000000"/>
                </a:solidFill>
                <a:latin typeface="Times New Roman Bold"/>
                <a:ea typeface="Times New Roman Bold"/>
                <a:cs typeface="Times New Roman Bold"/>
                <a:sym typeface="Times New Roman Bold"/>
              </a:rPr>
              <a:t>Additional Tools</a:t>
            </a:r>
          </a:p>
          <a:p>
            <a:pPr marL="820419" lvl="1" indent="-410209" algn="l">
              <a:lnSpc>
                <a:spcPts val="5319"/>
              </a:lnSpc>
              <a:buFont typeface="Arial"/>
              <a:buChar char="•"/>
            </a:pPr>
            <a:r>
              <a:rPr lang="en-US" sz="3799">
                <a:solidFill>
                  <a:srgbClr val="000000"/>
                </a:solidFill>
                <a:latin typeface="Times New Roman"/>
                <a:ea typeface="Times New Roman"/>
                <a:cs typeface="Times New Roman"/>
                <a:sym typeface="Times New Roman"/>
              </a:rPr>
              <a:t>Git/GitHub for version control.</a:t>
            </a:r>
          </a:p>
        </p:txBody>
      </p:sp>
      <p:sp>
        <p:nvSpPr>
          <p:cNvPr id="4" name="Freeform 4"/>
          <p:cNvSpPr/>
          <p:nvPr/>
        </p:nvSpPr>
        <p:spPr>
          <a:xfrm>
            <a:off x="0" y="98234"/>
            <a:ext cx="1251237" cy="930466"/>
          </a:xfrm>
          <a:custGeom>
            <a:avLst/>
            <a:gdLst/>
            <a:ahLst/>
            <a:cxnLst/>
            <a:rect l="l" t="t" r="r" b="b"/>
            <a:pathLst>
              <a:path w="1251237" h="930466">
                <a:moveTo>
                  <a:pt x="0" y="0"/>
                </a:moveTo>
                <a:lnTo>
                  <a:pt x="1251237" y="0"/>
                </a:lnTo>
                <a:lnTo>
                  <a:pt x="1251237" y="930466"/>
                </a:lnTo>
                <a:lnTo>
                  <a:pt x="0" y="93046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5" name="Freeform 5"/>
          <p:cNvSpPr/>
          <p:nvPr/>
        </p:nvSpPr>
        <p:spPr>
          <a:xfrm>
            <a:off x="12747578" y="1622273"/>
            <a:ext cx="4345558" cy="4189430"/>
          </a:xfrm>
          <a:custGeom>
            <a:avLst/>
            <a:gdLst/>
            <a:ahLst/>
            <a:cxnLst/>
            <a:rect l="l" t="t" r="r" b="b"/>
            <a:pathLst>
              <a:path w="4345558" h="4189430">
                <a:moveTo>
                  <a:pt x="0" y="0"/>
                </a:moveTo>
                <a:lnTo>
                  <a:pt x="4345558" y="0"/>
                </a:lnTo>
                <a:lnTo>
                  <a:pt x="4345558" y="4189431"/>
                </a:lnTo>
                <a:lnTo>
                  <a:pt x="0" y="4189431"/>
                </a:lnTo>
                <a:lnTo>
                  <a:pt x="0" y="0"/>
                </a:lnTo>
                <a:close/>
              </a:path>
            </a:pathLst>
          </a:custGeom>
          <a:blipFill>
            <a:blip r:embed="rId6"/>
            <a:stretch>
              <a:fillRect/>
            </a:stretch>
          </a:blipFill>
        </p:spPr>
        <p:txBody>
          <a:bodyPr/>
          <a:lstStyle/>
          <a:p>
            <a:endParaRPr lang="en-I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6997" y="7711973"/>
            <a:ext cx="18541994" cy="2733656"/>
          </a:xfrm>
          <a:custGeom>
            <a:avLst/>
            <a:gdLst/>
            <a:ahLst/>
            <a:cxnLst/>
            <a:rect l="l" t="t" r="r" b="b"/>
            <a:pathLst>
              <a:path w="18541994" h="2733656">
                <a:moveTo>
                  <a:pt x="0" y="0"/>
                </a:moveTo>
                <a:lnTo>
                  <a:pt x="18541994" y="0"/>
                </a:lnTo>
                <a:lnTo>
                  <a:pt x="18541994" y="2733656"/>
                </a:lnTo>
                <a:lnTo>
                  <a:pt x="0" y="273365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a:off x="137341" y="139157"/>
            <a:ext cx="1282000" cy="953342"/>
          </a:xfrm>
          <a:custGeom>
            <a:avLst/>
            <a:gdLst/>
            <a:ahLst/>
            <a:cxnLst/>
            <a:rect l="l" t="t" r="r" b="b"/>
            <a:pathLst>
              <a:path w="1282000" h="953342">
                <a:moveTo>
                  <a:pt x="0" y="0"/>
                </a:moveTo>
                <a:lnTo>
                  <a:pt x="1282000" y="0"/>
                </a:lnTo>
                <a:lnTo>
                  <a:pt x="1282000" y="953342"/>
                </a:lnTo>
                <a:lnTo>
                  <a:pt x="0" y="95334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5" name="TextBox 5"/>
          <p:cNvSpPr txBox="1"/>
          <p:nvPr/>
        </p:nvSpPr>
        <p:spPr>
          <a:xfrm>
            <a:off x="5989375" y="172384"/>
            <a:ext cx="5339164" cy="920115"/>
          </a:xfrm>
          <a:prstGeom prst="rect">
            <a:avLst/>
          </a:prstGeom>
        </p:spPr>
        <p:txBody>
          <a:bodyPr lIns="0" tIns="0" rIns="0" bIns="0" rtlCol="0" anchor="t">
            <a:spAutoFit/>
          </a:bodyPr>
          <a:lstStyle/>
          <a:p>
            <a:pPr algn="l">
              <a:lnSpc>
                <a:spcPts val="7559"/>
              </a:lnSpc>
            </a:pPr>
            <a:r>
              <a:rPr lang="en-US" sz="5400" b="1" u="sng">
                <a:solidFill>
                  <a:srgbClr val="2A3990"/>
                </a:solidFill>
                <a:latin typeface="Roboto Bold"/>
                <a:ea typeface="Roboto Bold"/>
                <a:cs typeface="Roboto Bold"/>
                <a:sym typeface="Roboto Bold"/>
              </a:rPr>
              <a:t>METHODOLOGY</a:t>
            </a:r>
          </a:p>
        </p:txBody>
      </p:sp>
      <p:sp>
        <p:nvSpPr>
          <p:cNvPr id="6" name="TextBox 6"/>
          <p:cNvSpPr txBox="1"/>
          <p:nvPr/>
        </p:nvSpPr>
        <p:spPr>
          <a:xfrm>
            <a:off x="647928" y="2171700"/>
            <a:ext cx="13753872" cy="4436279"/>
          </a:xfrm>
          <a:prstGeom prst="rect">
            <a:avLst/>
          </a:prstGeom>
        </p:spPr>
        <p:txBody>
          <a:bodyPr wrap="square" lIns="0" tIns="0" rIns="0" bIns="0" rtlCol="0" anchor="t">
            <a:spAutoFit/>
          </a:bodyPr>
          <a:lstStyle/>
          <a:p>
            <a:pPr marL="777240" lvl="1" indent="-388620" algn="just">
              <a:lnSpc>
                <a:spcPts val="5040"/>
              </a:lnSpc>
              <a:buFont typeface="Arial"/>
              <a:buChar char="•"/>
            </a:pPr>
            <a:r>
              <a:rPr lang="en-US" sz="3600" dirty="0">
                <a:solidFill>
                  <a:srgbClr val="000000"/>
                </a:solidFill>
                <a:latin typeface="Times New Roman"/>
                <a:ea typeface="Times New Roman"/>
                <a:cs typeface="Times New Roman"/>
                <a:sym typeface="Times New Roman"/>
              </a:rPr>
              <a:t>Role-based login for Doctors, Patients, and Hospitals.</a:t>
            </a:r>
          </a:p>
          <a:p>
            <a:pPr marL="777240" lvl="1" indent="-388620" algn="just">
              <a:lnSpc>
                <a:spcPts val="5040"/>
              </a:lnSpc>
              <a:buFont typeface="Arial"/>
              <a:buChar char="•"/>
            </a:pPr>
            <a:r>
              <a:rPr lang="en-US" sz="3600" dirty="0">
                <a:solidFill>
                  <a:srgbClr val="000000"/>
                </a:solidFill>
                <a:latin typeface="Times New Roman"/>
                <a:ea typeface="Times New Roman"/>
                <a:cs typeface="Times New Roman"/>
                <a:sym typeface="Times New Roman"/>
              </a:rPr>
              <a:t>Patient records fetched via ID/phone number/name.</a:t>
            </a:r>
          </a:p>
          <a:p>
            <a:pPr marL="777240" lvl="1" indent="-388620" algn="just">
              <a:lnSpc>
                <a:spcPts val="5040"/>
              </a:lnSpc>
              <a:buFont typeface="Arial"/>
              <a:buChar char="•"/>
            </a:pPr>
            <a:r>
              <a:rPr lang="en-US" sz="3600" dirty="0">
                <a:solidFill>
                  <a:srgbClr val="000000"/>
                </a:solidFill>
                <a:latin typeface="Times New Roman"/>
                <a:ea typeface="Times New Roman"/>
                <a:cs typeface="Times New Roman"/>
                <a:sym typeface="Times New Roman"/>
              </a:rPr>
              <a:t>Hospitals update and maintain medical records securely.</a:t>
            </a:r>
          </a:p>
          <a:p>
            <a:pPr marL="777240" lvl="1" indent="-388620" algn="just">
              <a:lnSpc>
                <a:spcPts val="5040"/>
              </a:lnSpc>
              <a:buFont typeface="Arial"/>
              <a:buChar char="•"/>
            </a:pPr>
            <a:r>
              <a:rPr lang="en-US" sz="3600" dirty="0">
                <a:solidFill>
                  <a:srgbClr val="000000"/>
                </a:solidFill>
                <a:latin typeface="Times New Roman"/>
                <a:ea typeface="Times New Roman"/>
                <a:cs typeface="Times New Roman"/>
                <a:sym typeface="Times New Roman"/>
              </a:rPr>
              <a:t>Doctors trigger AI summarization for clinical briefs.</a:t>
            </a:r>
          </a:p>
          <a:p>
            <a:pPr marL="777240" lvl="1" indent="-388620" algn="just">
              <a:lnSpc>
                <a:spcPts val="5040"/>
              </a:lnSpc>
              <a:buFont typeface="Arial"/>
              <a:buChar char="•"/>
            </a:pPr>
            <a:r>
              <a:rPr lang="en-US" sz="3600" dirty="0">
                <a:solidFill>
                  <a:srgbClr val="000000"/>
                </a:solidFill>
                <a:latin typeface="Times New Roman"/>
                <a:ea typeface="Times New Roman"/>
                <a:cs typeface="Times New Roman"/>
                <a:sym typeface="Times New Roman"/>
              </a:rPr>
              <a:t>Patients view reports and summarized data from their dashboard.</a:t>
            </a:r>
          </a:p>
          <a:p>
            <a:pPr marL="777240" lvl="1" indent="-388620" algn="just">
              <a:lnSpc>
                <a:spcPts val="5040"/>
              </a:lnSpc>
              <a:buFont typeface="Arial"/>
              <a:buChar char="•"/>
            </a:pPr>
            <a:r>
              <a:rPr lang="en-US" sz="3600" dirty="0">
                <a:solidFill>
                  <a:srgbClr val="000000"/>
                </a:solidFill>
                <a:latin typeface="Times New Roman"/>
                <a:ea typeface="Times New Roman"/>
                <a:cs typeface="Times New Roman"/>
                <a:sym typeface="Times New Roman"/>
              </a:rPr>
              <a:t>Authorized users can download complete or summarized reports.</a:t>
            </a:r>
          </a:p>
          <a:p>
            <a:pPr algn="just">
              <a:lnSpc>
                <a:spcPts val="5040"/>
              </a:lnSpc>
            </a:pPr>
            <a:endParaRPr lang="en-US" sz="3600" dirty="0">
              <a:solidFill>
                <a:srgbClr val="000000"/>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6997" y="1622273"/>
            <a:ext cx="18541994" cy="8844974"/>
          </a:xfrm>
          <a:custGeom>
            <a:avLst/>
            <a:gdLst/>
            <a:ahLst/>
            <a:cxnLst/>
            <a:rect l="l" t="t" r="r" b="b"/>
            <a:pathLst>
              <a:path w="18541994" h="8844974">
                <a:moveTo>
                  <a:pt x="0" y="0"/>
                </a:moveTo>
                <a:lnTo>
                  <a:pt x="18541994" y="0"/>
                </a:lnTo>
                <a:lnTo>
                  <a:pt x="18541994" y="8844974"/>
                </a:lnTo>
                <a:lnTo>
                  <a:pt x="0" y="8844974"/>
                </a:lnTo>
                <a:lnTo>
                  <a:pt x="0" y="0"/>
                </a:lnTo>
                <a:close/>
              </a:path>
            </a:pathLst>
          </a:custGeom>
          <a:blipFill>
            <a:blip r:embed="rId2">
              <a:extLst>
                <a:ext uri="{96DAC541-7B7A-43D3-8B79-37D633B846F1}">
                  <asvg:svgBlip xmlns:asvg="http://schemas.microsoft.com/office/drawing/2016/SVG/main" r:embed="rId3"/>
                </a:ext>
              </a:extLst>
            </a:blip>
            <a:stretch>
              <a:fillRect t="-14961"/>
            </a:stretch>
          </a:blipFill>
        </p:spPr>
        <p:txBody>
          <a:bodyPr/>
          <a:lstStyle/>
          <a:p>
            <a:endParaRPr lang="en-IN"/>
          </a:p>
        </p:txBody>
      </p:sp>
      <p:sp>
        <p:nvSpPr>
          <p:cNvPr id="3" name="Freeform 3"/>
          <p:cNvSpPr/>
          <p:nvPr/>
        </p:nvSpPr>
        <p:spPr>
          <a:xfrm>
            <a:off x="1028700" y="1028700"/>
            <a:ext cx="16230600" cy="8148744"/>
          </a:xfrm>
          <a:custGeom>
            <a:avLst/>
            <a:gdLst/>
            <a:ahLst/>
            <a:cxnLst/>
            <a:rect l="l" t="t" r="r" b="b"/>
            <a:pathLst>
              <a:path w="16230600" h="8148744">
                <a:moveTo>
                  <a:pt x="0" y="0"/>
                </a:moveTo>
                <a:lnTo>
                  <a:pt x="16230600" y="0"/>
                </a:lnTo>
                <a:lnTo>
                  <a:pt x="16230600" y="8148744"/>
                </a:lnTo>
                <a:lnTo>
                  <a:pt x="0" y="8148744"/>
                </a:lnTo>
                <a:lnTo>
                  <a:pt x="0" y="0"/>
                </a:lnTo>
                <a:close/>
              </a:path>
            </a:pathLst>
          </a:custGeom>
          <a:blipFill>
            <a:blip r:embed="rId4"/>
            <a:stretch>
              <a:fillRect t="-5363" b="-11155"/>
            </a:stretch>
          </a:blipFill>
        </p:spPr>
        <p:txBody>
          <a:bodyPr/>
          <a:lstStyle/>
          <a:p>
            <a:endParaRPr lang="en-IN"/>
          </a:p>
        </p:txBody>
      </p:sp>
      <p:sp>
        <p:nvSpPr>
          <p:cNvPr id="4" name="Freeform 4"/>
          <p:cNvSpPr/>
          <p:nvPr/>
        </p:nvSpPr>
        <p:spPr>
          <a:xfrm>
            <a:off x="0" y="108479"/>
            <a:ext cx="1237461" cy="920221"/>
          </a:xfrm>
          <a:custGeom>
            <a:avLst/>
            <a:gdLst/>
            <a:ahLst/>
            <a:cxnLst/>
            <a:rect l="l" t="t" r="r" b="b"/>
            <a:pathLst>
              <a:path w="1237461" h="920221">
                <a:moveTo>
                  <a:pt x="0" y="0"/>
                </a:moveTo>
                <a:lnTo>
                  <a:pt x="1237461" y="0"/>
                </a:lnTo>
                <a:lnTo>
                  <a:pt x="1237461" y="920221"/>
                </a:lnTo>
                <a:lnTo>
                  <a:pt x="0" y="92022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I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6997" y="7711973"/>
            <a:ext cx="18541994" cy="2733656"/>
          </a:xfrm>
          <a:custGeom>
            <a:avLst/>
            <a:gdLst/>
            <a:ahLst/>
            <a:cxnLst/>
            <a:rect l="l" t="t" r="r" b="b"/>
            <a:pathLst>
              <a:path w="18541994" h="2733656">
                <a:moveTo>
                  <a:pt x="0" y="0"/>
                </a:moveTo>
                <a:lnTo>
                  <a:pt x="18541994" y="0"/>
                </a:lnTo>
                <a:lnTo>
                  <a:pt x="18541994" y="2733656"/>
                </a:lnTo>
                <a:lnTo>
                  <a:pt x="0" y="273365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a:off x="131436" y="339928"/>
            <a:ext cx="1248401" cy="928356"/>
          </a:xfrm>
          <a:custGeom>
            <a:avLst/>
            <a:gdLst/>
            <a:ahLst/>
            <a:cxnLst/>
            <a:rect l="l" t="t" r="r" b="b"/>
            <a:pathLst>
              <a:path w="1248401" h="928356">
                <a:moveTo>
                  <a:pt x="0" y="0"/>
                </a:moveTo>
                <a:lnTo>
                  <a:pt x="1248401" y="0"/>
                </a:lnTo>
                <a:lnTo>
                  <a:pt x="1248401" y="928356"/>
                </a:lnTo>
                <a:lnTo>
                  <a:pt x="0" y="92835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5" name="TextBox 5"/>
          <p:cNvSpPr txBox="1"/>
          <p:nvPr/>
        </p:nvSpPr>
        <p:spPr>
          <a:xfrm>
            <a:off x="5450596" y="348169"/>
            <a:ext cx="7386807" cy="920115"/>
          </a:xfrm>
          <a:prstGeom prst="rect">
            <a:avLst/>
          </a:prstGeom>
        </p:spPr>
        <p:txBody>
          <a:bodyPr lIns="0" tIns="0" rIns="0" bIns="0" rtlCol="0" anchor="t">
            <a:spAutoFit/>
          </a:bodyPr>
          <a:lstStyle/>
          <a:p>
            <a:pPr algn="l">
              <a:lnSpc>
                <a:spcPts val="7559"/>
              </a:lnSpc>
            </a:pPr>
            <a:r>
              <a:rPr lang="en-US" sz="5400" b="1" u="sng">
                <a:solidFill>
                  <a:srgbClr val="2A3990"/>
                </a:solidFill>
                <a:latin typeface="Roboto Bold"/>
                <a:ea typeface="Roboto Bold"/>
                <a:cs typeface="Roboto Bold"/>
                <a:sym typeface="Roboto Bold"/>
              </a:rPr>
              <a:t> IMPLEMENTATION</a:t>
            </a:r>
          </a:p>
        </p:txBody>
      </p:sp>
      <p:sp>
        <p:nvSpPr>
          <p:cNvPr id="6" name="TextBox 6"/>
          <p:cNvSpPr txBox="1"/>
          <p:nvPr/>
        </p:nvSpPr>
        <p:spPr>
          <a:xfrm>
            <a:off x="1028700" y="1629454"/>
            <a:ext cx="12763500" cy="5128776"/>
          </a:xfrm>
          <a:prstGeom prst="rect">
            <a:avLst/>
          </a:prstGeom>
        </p:spPr>
        <p:txBody>
          <a:bodyPr wrap="square" lIns="0" tIns="0" rIns="0" bIns="0" rtlCol="0" anchor="t">
            <a:spAutoFit/>
          </a:bodyPr>
          <a:lstStyle/>
          <a:p>
            <a:pPr algn="just">
              <a:lnSpc>
                <a:spcPts val="5760"/>
              </a:lnSpc>
            </a:pPr>
            <a:endParaRPr dirty="0"/>
          </a:p>
          <a:p>
            <a:pPr marL="777243" lvl="1" indent="-388622" algn="just">
              <a:lnSpc>
                <a:spcPts val="5760"/>
              </a:lnSpc>
              <a:buFont typeface="Arial"/>
              <a:buChar char="•"/>
            </a:pPr>
            <a:r>
              <a:rPr lang="en-US" sz="3600" dirty="0">
                <a:solidFill>
                  <a:srgbClr val="000000"/>
                </a:solidFill>
                <a:latin typeface="Times New Roman"/>
                <a:ea typeface="Times New Roman"/>
                <a:cs typeface="Times New Roman"/>
                <a:sym typeface="Times New Roman"/>
              </a:rPr>
              <a:t>Web interface for doctors, patients and hospital authorities.</a:t>
            </a:r>
          </a:p>
          <a:p>
            <a:pPr marL="777243" lvl="1" indent="-388622" algn="just">
              <a:lnSpc>
                <a:spcPts val="5760"/>
              </a:lnSpc>
              <a:buFont typeface="Arial"/>
              <a:buChar char="•"/>
            </a:pPr>
            <a:r>
              <a:rPr lang="en-US" sz="3600" dirty="0">
                <a:solidFill>
                  <a:srgbClr val="000000"/>
                </a:solidFill>
                <a:latin typeface="Times New Roman"/>
                <a:ea typeface="Times New Roman"/>
                <a:cs typeface="Times New Roman"/>
                <a:sym typeface="Times New Roman"/>
              </a:rPr>
              <a:t>Frontend communicates with backend securely via API.</a:t>
            </a:r>
          </a:p>
          <a:p>
            <a:pPr marL="777243" lvl="1" indent="-388622" algn="just">
              <a:lnSpc>
                <a:spcPts val="5760"/>
              </a:lnSpc>
              <a:buFont typeface="Arial"/>
              <a:buChar char="•"/>
            </a:pPr>
            <a:r>
              <a:rPr lang="en-US" sz="3600" dirty="0">
                <a:solidFill>
                  <a:srgbClr val="000000"/>
                </a:solidFill>
                <a:latin typeface="Times New Roman"/>
                <a:ea typeface="Times New Roman"/>
                <a:cs typeface="Times New Roman"/>
                <a:sym typeface="Times New Roman"/>
              </a:rPr>
              <a:t>AI modules integrated for summarization.</a:t>
            </a:r>
          </a:p>
          <a:p>
            <a:pPr marL="777243" lvl="1" indent="-388622" algn="just">
              <a:lnSpc>
                <a:spcPts val="5760"/>
              </a:lnSpc>
              <a:buFont typeface="Arial"/>
              <a:buChar char="•"/>
            </a:pPr>
            <a:r>
              <a:rPr lang="en-US" sz="3600" dirty="0">
                <a:solidFill>
                  <a:srgbClr val="000000"/>
                </a:solidFill>
                <a:latin typeface="Times New Roman"/>
                <a:ea typeface="Times New Roman"/>
                <a:cs typeface="Times New Roman"/>
                <a:sym typeface="Times New Roman"/>
              </a:rPr>
              <a:t>Patient details stored in MongoDB.</a:t>
            </a:r>
          </a:p>
          <a:p>
            <a:pPr marL="777243" lvl="1" indent="-388622" algn="just">
              <a:lnSpc>
                <a:spcPts val="5760"/>
              </a:lnSpc>
              <a:buFont typeface="Arial"/>
              <a:buChar char="•"/>
            </a:pPr>
            <a:r>
              <a:rPr lang="en-US" sz="3600" dirty="0">
                <a:solidFill>
                  <a:srgbClr val="000000"/>
                </a:solidFill>
                <a:latin typeface="Times New Roman"/>
                <a:ea typeface="Times New Roman"/>
                <a:cs typeface="Times New Roman"/>
                <a:sym typeface="Times New Roman"/>
              </a:rPr>
              <a:t>Mobile app for quick access.</a:t>
            </a:r>
          </a:p>
          <a:p>
            <a:pPr algn="just">
              <a:lnSpc>
                <a:spcPts val="5760"/>
              </a:lnSpc>
            </a:pPr>
            <a:endParaRPr lang="en-US" sz="3600" dirty="0">
              <a:solidFill>
                <a:srgbClr val="000000"/>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450596" y="516255"/>
            <a:ext cx="7386807" cy="920115"/>
          </a:xfrm>
          <a:prstGeom prst="rect">
            <a:avLst/>
          </a:prstGeom>
        </p:spPr>
        <p:txBody>
          <a:bodyPr lIns="0" tIns="0" rIns="0" bIns="0" rtlCol="0" anchor="t">
            <a:spAutoFit/>
          </a:bodyPr>
          <a:lstStyle/>
          <a:p>
            <a:pPr algn="l">
              <a:lnSpc>
                <a:spcPts val="7559"/>
              </a:lnSpc>
            </a:pPr>
            <a:r>
              <a:rPr lang="en-US" sz="5400" b="1" u="sng">
                <a:solidFill>
                  <a:srgbClr val="2A3990"/>
                </a:solidFill>
                <a:latin typeface="Roboto Bold"/>
                <a:ea typeface="Roboto Bold"/>
                <a:cs typeface="Roboto Bold"/>
                <a:sym typeface="Roboto Bold"/>
              </a:rPr>
              <a:t>CHALLENGES FACED</a:t>
            </a:r>
          </a:p>
        </p:txBody>
      </p:sp>
      <p:sp>
        <p:nvSpPr>
          <p:cNvPr id="3" name="Freeform 3"/>
          <p:cNvSpPr/>
          <p:nvPr/>
        </p:nvSpPr>
        <p:spPr>
          <a:xfrm>
            <a:off x="-126997" y="7711973"/>
            <a:ext cx="18541994" cy="2733656"/>
          </a:xfrm>
          <a:custGeom>
            <a:avLst/>
            <a:gdLst/>
            <a:ahLst/>
            <a:cxnLst/>
            <a:rect l="l" t="t" r="r" b="b"/>
            <a:pathLst>
              <a:path w="18541994" h="2733656">
                <a:moveTo>
                  <a:pt x="0" y="0"/>
                </a:moveTo>
                <a:lnTo>
                  <a:pt x="18541994" y="0"/>
                </a:lnTo>
                <a:lnTo>
                  <a:pt x="18541994" y="2733656"/>
                </a:lnTo>
                <a:lnTo>
                  <a:pt x="0" y="273365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 name="TextBox 4"/>
          <p:cNvSpPr txBox="1"/>
          <p:nvPr/>
        </p:nvSpPr>
        <p:spPr>
          <a:xfrm>
            <a:off x="1028700" y="1490978"/>
            <a:ext cx="16230600" cy="4384983"/>
          </a:xfrm>
          <a:prstGeom prst="rect">
            <a:avLst/>
          </a:prstGeom>
        </p:spPr>
        <p:txBody>
          <a:bodyPr lIns="0" tIns="0" rIns="0" bIns="0" rtlCol="0" anchor="t">
            <a:spAutoFit/>
          </a:bodyPr>
          <a:lstStyle/>
          <a:p>
            <a:pPr algn="just">
              <a:lnSpc>
                <a:spcPts val="5760"/>
              </a:lnSpc>
            </a:pPr>
            <a:endParaRPr dirty="0"/>
          </a:p>
          <a:p>
            <a:pPr marL="742950" indent="-742950" algn="just">
              <a:lnSpc>
                <a:spcPts val="5760"/>
              </a:lnSpc>
              <a:buFont typeface="+mj-lt"/>
              <a:buAutoNum type="arabicPeriod"/>
            </a:pPr>
            <a:r>
              <a:rPr lang="en-US" sz="3600" dirty="0">
                <a:solidFill>
                  <a:srgbClr val="000000"/>
                </a:solidFill>
                <a:latin typeface="Times New Roman" panose="02020603050405020304" pitchFamily="18" charset="0"/>
                <a:ea typeface="Times New Roman Bold"/>
                <a:cs typeface="Times New Roman" panose="02020603050405020304" pitchFamily="18" charset="0"/>
                <a:sym typeface="Times New Roman Bold"/>
              </a:rPr>
              <a:t>Ensuring real-time access across web and mobile platforms.</a:t>
            </a:r>
            <a:endParaRPr lang="en-US" sz="3600"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a:p>
            <a:pPr marL="742950" indent="-742950" algn="just">
              <a:lnSpc>
                <a:spcPts val="5760"/>
              </a:lnSpc>
              <a:buFont typeface="+mj-lt"/>
              <a:buAutoNum type="arabicPeriod"/>
            </a:pPr>
            <a:r>
              <a:rPr lang="en-US" sz="3600" dirty="0">
                <a:solidFill>
                  <a:srgbClr val="000000"/>
                </a:solidFill>
                <a:latin typeface="Times New Roman" panose="02020603050405020304" pitchFamily="18" charset="0"/>
                <a:ea typeface="Times New Roman Bold"/>
                <a:cs typeface="Times New Roman" panose="02020603050405020304" pitchFamily="18" charset="0"/>
                <a:sym typeface="Times New Roman Bold"/>
              </a:rPr>
              <a:t>Integrating multiple AI modules while ensuring fast, accurate medical summaries.</a:t>
            </a:r>
            <a:endParaRPr lang="en-US" sz="3600" dirty="0">
              <a:solidFill>
                <a:srgbClr val="000000"/>
              </a:solidFill>
              <a:latin typeface="Times New Roman" panose="02020603050405020304" pitchFamily="18" charset="0"/>
              <a:ea typeface="Times New Roman Bold"/>
              <a:cs typeface="Times New Roman" panose="02020603050405020304" pitchFamily="18" charset="0"/>
              <a:sym typeface="Times New Roman"/>
            </a:endParaRPr>
          </a:p>
          <a:p>
            <a:pPr marL="742950" indent="-742950" algn="just">
              <a:lnSpc>
                <a:spcPts val="5760"/>
              </a:lnSpc>
              <a:buFont typeface="+mj-lt"/>
              <a:buAutoNum type="arabicPeriod"/>
            </a:pPr>
            <a:r>
              <a:rPr lang="en-US" sz="3600" dirty="0">
                <a:solidFill>
                  <a:srgbClr val="000000"/>
                </a:solidFill>
                <a:latin typeface="Times New Roman" panose="02020603050405020304" pitchFamily="18" charset="0"/>
                <a:ea typeface="Times New Roman Bold"/>
                <a:cs typeface="Times New Roman" panose="02020603050405020304" pitchFamily="18" charset="0"/>
                <a:sym typeface="Times New Roman Bold"/>
              </a:rPr>
              <a:t>Ensuring end-to-end security for sensitive patient data across frontend and backend.</a:t>
            </a:r>
          </a:p>
          <a:p>
            <a:pPr marL="742950" indent="-742950" algn="just">
              <a:lnSpc>
                <a:spcPts val="5760"/>
              </a:lnSpc>
              <a:buFont typeface="+mj-lt"/>
              <a:buAutoNum type="arabicPeriod"/>
            </a:pPr>
            <a:r>
              <a:rPr lang="en-US" sz="3600" dirty="0">
                <a:solidFill>
                  <a:srgbClr val="000000"/>
                </a:solidFill>
                <a:latin typeface="Times New Roman" panose="02020603050405020304" pitchFamily="18" charset="0"/>
                <a:ea typeface="Times New Roman Bold"/>
                <a:cs typeface="Times New Roman" panose="02020603050405020304" pitchFamily="18" charset="0"/>
                <a:sym typeface="Times New Roman Bold"/>
              </a:rPr>
              <a:t>Converting the web platform into a functional mobile app without rebuilding the entire codebase.</a:t>
            </a:r>
          </a:p>
        </p:txBody>
      </p:sp>
      <p:sp>
        <p:nvSpPr>
          <p:cNvPr id="5" name="Freeform 5"/>
          <p:cNvSpPr/>
          <p:nvPr/>
        </p:nvSpPr>
        <p:spPr>
          <a:xfrm>
            <a:off x="131436" y="339928"/>
            <a:ext cx="1303967" cy="969677"/>
          </a:xfrm>
          <a:custGeom>
            <a:avLst/>
            <a:gdLst/>
            <a:ahLst/>
            <a:cxnLst/>
            <a:rect l="l" t="t" r="r" b="b"/>
            <a:pathLst>
              <a:path w="1303967" h="969677">
                <a:moveTo>
                  <a:pt x="0" y="0"/>
                </a:moveTo>
                <a:lnTo>
                  <a:pt x="1303967" y="0"/>
                </a:lnTo>
                <a:lnTo>
                  <a:pt x="1303967" y="969677"/>
                </a:lnTo>
                <a:lnTo>
                  <a:pt x="0" y="96967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7006" y="7680331"/>
            <a:ext cx="18541994" cy="2733656"/>
          </a:xfrm>
          <a:custGeom>
            <a:avLst/>
            <a:gdLst/>
            <a:ahLst/>
            <a:cxnLst/>
            <a:rect l="l" t="t" r="r" b="b"/>
            <a:pathLst>
              <a:path w="18541994" h="2733656">
                <a:moveTo>
                  <a:pt x="0" y="0"/>
                </a:moveTo>
                <a:lnTo>
                  <a:pt x="18541993" y="0"/>
                </a:lnTo>
                <a:lnTo>
                  <a:pt x="18541993" y="2733656"/>
                </a:lnTo>
                <a:lnTo>
                  <a:pt x="0" y="273365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a:off x="131436" y="339928"/>
            <a:ext cx="1277917" cy="950305"/>
          </a:xfrm>
          <a:custGeom>
            <a:avLst/>
            <a:gdLst/>
            <a:ahLst/>
            <a:cxnLst/>
            <a:rect l="l" t="t" r="r" b="b"/>
            <a:pathLst>
              <a:path w="1277917" h="950305">
                <a:moveTo>
                  <a:pt x="0" y="0"/>
                </a:moveTo>
                <a:lnTo>
                  <a:pt x="1277917" y="0"/>
                </a:lnTo>
                <a:lnTo>
                  <a:pt x="1277917" y="950306"/>
                </a:lnTo>
                <a:lnTo>
                  <a:pt x="0" y="95030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4" name="Freeform 4"/>
          <p:cNvSpPr/>
          <p:nvPr/>
        </p:nvSpPr>
        <p:spPr>
          <a:xfrm>
            <a:off x="2360744" y="2097954"/>
            <a:ext cx="14079240" cy="6951625"/>
          </a:xfrm>
          <a:custGeom>
            <a:avLst/>
            <a:gdLst/>
            <a:ahLst/>
            <a:cxnLst/>
            <a:rect l="l" t="t" r="r" b="b"/>
            <a:pathLst>
              <a:path w="14079240" h="6951625">
                <a:moveTo>
                  <a:pt x="0" y="0"/>
                </a:moveTo>
                <a:lnTo>
                  <a:pt x="14079240" y="0"/>
                </a:lnTo>
                <a:lnTo>
                  <a:pt x="14079240" y="6951624"/>
                </a:lnTo>
                <a:lnTo>
                  <a:pt x="0" y="6951624"/>
                </a:lnTo>
                <a:lnTo>
                  <a:pt x="0" y="0"/>
                </a:lnTo>
                <a:close/>
              </a:path>
            </a:pathLst>
          </a:custGeom>
          <a:blipFill>
            <a:blip r:embed="rId6"/>
            <a:stretch>
              <a:fillRect/>
            </a:stretch>
          </a:blipFill>
        </p:spPr>
        <p:txBody>
          <a:bodyPr/>
          <a:lstStyle/>
          <a:p>
            <a:endParaRPr lang="en-IN"/>
          </a:p>
        </p:txBody>
      </p:sp>
      <p:sp>
        <p:nvSpPr>
          <p:cNvPr id="5" name="TextBox 5"/>
          <p:cNvSpPr txBox="1"/>
          <p:nvPr/>
        </p:nvSpPr>
        <p:spPr>
          <a:xfrm>
            <a:off x="2360744" y="1128309"/>
            <a:ext cx="15149620" cy="702945"/>
          </a:xfrm>
          <a:prstGeom prst="rect">
            <a:avLst/>
          </a:prstGeom>
        </p:spPr>
        <p:txBody>
          <a:bodyPr lIns="0" tIns="0" rIns="0" bIns="0" rtlCol="0" anchor="t">
            <a:spAutoFit/>
          </a:bodyPr>
          <a:lstStyle/>
          <a:p>
            <a:pPr algn="l">
              <a:lnSpc>
                <a:spcPts val="5760"/>
              </a:lnSpc>
            </a:pPr>
            <a:r>
              <a:rPr lang="en-US" sz="3600" b="1">
                <a:solidFill>
                  <a:srgbClr val="000000"/>
                </a:solidFill>
                <a:latin typeface="Times New Roman Bold"/>
                <a:ea typeface="Times New Roman Bold"/>
                <a:cs typeface="Times New Roman Bold"/>
                <a:sym typeface="Times New Roman Bold"/>
              </a:rPr>
              <a:t>Role-based login/register for Doctors, Patients, and Hospitals.</a:t>
            </a:r>
          </a:p>
        </p:txBody>
      </p:sp>
      <p:sp>
        <p:nvSpPr>
          <p:cNvPr id="6" name="TextBox 6"/>
          <p:cNvSpPr txBox="1"/>
          <p:nvPr/>
        </p:nvSpPr>
        <p:spPr>
          <a:xfrm>
            <a:off x="7899232" y="108585"/>
            <a:ext cx="3002265" cy="920115"/>
          </a:xfrm>
          <a:prstGeom prst="rect">
            <a:avLst/>
          </a:prstGeom>
        </p:spPr>
        <p:txBody>
          <a:bodyPr lIns="0" tIns="0" rIns="0" bIns="0" rtlCol="0" anchor="t">
            <a:spAutoFit/>
          </a:bodyPr>
          <a:lstStyle/>
          <a:p>
            <a:pPr algn="l">
              <a:lnSpc>
                <a:spcPts val="7559"/>
              </a:lnSpc>
            </a:pPr>
            <a:r>
              <a:rPr lang="en-US" sz="5400" b="1" u="sng">
                <a:solidFill>
                  <a:srgbClr val="2A3990"/>
                </a:solidFill>
                <a:latin typeface="Roboto Bold"/>
                <a:ea typeface="Roboto Bold"/>
                <a:cs typeface="Roboto Bold"/>
                <a:sym typeface="Roboto Bold"/>
              </a:rPr>
              <a:t>RESULTS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7006" y="7680331"/>
            <a:ext cx="18541994" cy="2733656"/>
          </a:xfrm>
          <a:custGeom>
            <a:avLst/>
            <a:gdLst/>
            <a:ahLst/>
            <a:cxnLst/>
            <a:rect l="l" t="t" r="r" b="b"/>
            <a:pathLst>
              <a:path w="18541994" h="2733656">
                <a:moveTo>
                  <a:pt x="0" y="0"/>
                </a:moveTo>
                <a:lnTo>
                  <a:pt x="18541993" y="0"/>
                </a:lnTo>
                <a:lnTo>
                  <a:pt x="18541993" y="2733656"/>
                </a:lnTo>
                <a:lnTo>
                  <a:pt x="0" y="273365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a:off x="131436" y="339928"/>
            <a:ext cx="1300241" cy="966906"/>
          </a:xfrm>
          <a:custGeom>
            <a:avLst/>
            <a:gdLst/>
            <a:ahLst/>
            <a:cxnLst/>
            <a:rect l="l" t="t" r="r" b="b"/>
            <a:pathLst>
              <a:path w="1300241" h="966906">
                <a:moveTo>
                  <a:pt x="0" y="0"/>
                </a:moveTo>
                <a:lnTo>
                  <a:pt x="1300241" y="0"/>
                </a:lnTo>
                <a:lnTo>
                  <a:pt x="1300241" y="966907"/>
                </a:lnTo>
                <a:lnTo>
                  <a:pt x="0" y="96690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4" name="Freeform 4"/>
          <p:cNvSpPr/>
          <p:nvPr/>
        </p:nvSpPr>
        <p:spPr>
          <a:xfrm>
            <a:off x="2394274" y="2069852"/>
            <a:ext cx="13499433" cy="7188448"/>
          </a:xfrm>
          <a:custGeom>
            <a:avLst/>
            <a:gdLst/>
            <a:ahLst/>
            <a:cxnLst/>
            <a:rect l="l" t="t" r="r" b="b"/>
            <a:pathLst>
              <a:path w="13499433" h="7188448">
                <a:moveTo>
                  <a:pt x="0" y="0"/>
                </a:moveTo>
                <a:lnTo>
                  <a:pt x="13499433" y="0"/>
                </a:lnTo>
                <a:lnTo>
                  <a:pt x="13499433" y="7188448"/>
                </a:lnTo>
                <a:lnTo>
                  <a:pt x="0" y="7188448"/>
                </a:lnTo>
                <a:lnTo>
                  <a:pt x="0" y="0"/>
                </a:lnTo>
                <a:close/>
              </a:path>
            </a:pathLst>
          </a:custGeom>
          <a:blipFill>
            <a:blip r:embed="rId6"/>
            <a:stretch>
              <a:fillRect/>
            </a:stretch>
          </a:blipFill>
        </p:spPr>
        <p:txBody>
          <a:bodyPr/>
          <a:lstStyle/>
          <a:p>
            <a:endParaRPr lang="en-IN"/>
          </a:p>
        </p:txBody>
      </p:sp>
      <p:sp>
        <p:nvSpPr>
          <p:cNvPr id="5" name="TextBox 5"/>
          <p:cNvSpPr txBox="1"/>
          <p:nvPr/>
        </p:nvSpPr>
        <p:spPr>
          <a:xfrm>
            <a:off x="7899232" y="154305"/>
            <a:ext cx="3354779" cy="920115"/>
          </a:xfrm>
          <a:prstGeom prst="rect">
            <a:avLst/>
          </a:prstGeom>
        </p:spPr>
        <p:txBody>
          <a:bodyPr lIns="0" tIns="0" rIns="0" bIns="0" rtlCol="0" anchor="t">
            <a:spAutoFit/>
          </a:bodyPr>
          <a:lstStyle/>
          <a:p>
            <a:pPr algn="l">
              <a:lnSpc>
                <a:spcPts val="7559"/>
              </a:lnSpc>
            </a:pPr>
            <a:r>
              <a:rPr lang="en-US" sz="5400" b="1" u="sng">
                <a:solidFill>
                  <a:srgbClr val="2A3990"/>
                </a:solidFill>
                <a:latin typeface="Roboto Bold"/>
                <a:ea typeface="Roboto Bold"/>
                <a:cs typeface="Roboto Bold"/>
                <a:sym typeface="Roboto Bold"/>
              </a:rPr>
              <a:t>RESULTS</a:t>
            </a:r>
          </a:p>
        </p:txBody>
      </p:sp>
      <p:sp>
        <p:nvSpPr>
          <p:cNvPr id="6" name="TextBox 6"/>
          <p:cNvSpPr txBox="1"/>
          <p:nvPr/>
        </p:nvSpPr>
        <p:spPr>
          <a:xfrm>
            <a:off x="2394274" y="1139701"/>
            <a:ext cx="15149620" cy="702945"/>
          </a:xfrm>
          <a:prstGeom prst="rect">
            <a:avLst/>
          </a:prstGeom>
        </p:spPr>
        <p:txBody>
          <a:bodyPr lIns="0" tIns="0" rIns="0" bIns="0" rtlCol="0" anchor="t">
            <a:spAutoFit/>
          </a:bodyPr>
          <a:lstStyle/>
          <a:p>
            <a:pPr algn="l">
              <a:lnSpc>
                <a:spcPts val="5760"/>
              </a:lnSpc>
            </a:pPr>
            <a:r>
              <a:rPr lang="en-US" sz="3600" b="1">
                <a:solidFill>
                  <a:srgbClr val="000000"/>
                </a:solidFill>
                <a:latin typeface="Times New Roman Bold"/>
                <a:ea typeface="Times New Roman Bold"/>
                <a:cs typeface="Times New Roman Bold"/>
                <a:sym typeface="Times New Roman Bold"/>
              </a:rPr>
              <a:t>Doctor can view the patient health history.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7006" y="7680331"/>
            <a:ext cx="18541994" cy="2733656"/>
          </a:xfrm>
          <a:custGeom>
            <a:avLst/>
            <a:gdLst/>
            <a:ahLst/>
            <a:cxnLst/>
            <a:rect l="l" t="t" r="r" b="b"/>
            <a:pathLst>
              <a:path w="18541994" h="2733656">
                <a:moveTo>
                  <a:pt x="0" y="0"/>
                </a:moveTo>
                <a:lnTo>
                  <a:pt x="18541993" y="0"/>
                </a:lnTo>
                <a:lnTo>
                  <a:pt x="18541993" y="2733656"/>
                </a:lnTo>
                <a:lnTo>
                  <a:pt x="0" y="273365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a:off x="384586" y="268611"/>
            <a:ext cx="1288229" cy="957974"/>
          </a:xfrm>
          <a:custGeom>
            <a:avLst/>
            <a:gdLst/>
            <a:ahLst/>
            <a:cxnLst/>
            <a:rect l="l" t="t" r="r" b="b"/>
            <a:pathLst>
              <a:path w="1288229" h="957974">
                <a:moveTo>
                  <a:pt x="0" y="0"/>
                </a:moveTo>
                <a:lnTo>
                  <a:pt x="1288228" y="0"/>
                </a:lnTo>
                <a:lnTo>
                  <a:pt x="1288228" y="957974"/>
                </a:lnTo>
                <a:lnTo>
                  <a:pt x="0" y="95797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4" name="Freeform 4"/>
          <p:cNvSpPr/>
          <p:nvPr/>
        </p:nvSpPr>
        <p:spPr>
          <a:xfrm>
            <a:off x="2255547" y="2025425"/>
            <a:ext cx="13776905" cy="7232875"/>
          </a:xfrm>
          <a:custGeom>
            <a:avLst/>
            <a:gdLst/>
            <a:ahLst/>
            <a:cxnLst/>
            <a:rect l="l" t="t" r="r" b="b"/>
            <a:pathLst>
              <a:path w="13776905" h="7232875">
                <a:moveTo>
                  <a:pt x="0" y="0"/>
                </a:moveTo>
                <a:lnTo>
                  <a:pt x="13776906" y="0"/>
                </a:lnTo>
                <a:lnTo>
                  <a:pt x="13776906" y="7232875"/>
                </a:lnTo>
                <a:lnTo>
                  <a:pt x="0" y="7232875"/>
                </a:lnTo>
                <a:lnTo>
                  <a:pt x="0" y="0"/>
                </a:lnTo>
                <a:close/>
              </a:path>
            </a:pathLst>
          </a:custGeom>
          <a:blipFill>
            <a:blip r:embed="rId6"/>
            <a:stretch>
              <a:fillRect/>
            </a:stretch>
          </a:blipFill>
        </p:spPr>
        <p:txBody>
          <a:bodyPr/>
          <a:lstStyle/>
          <a:p>
            <a:endParaRPr lang="en-IN"/>
          </a:p>
        </p:txBody>
      </p:sp>
      <p:sp>
        <p:nvSpPr>
          <p:cNvPr id="5" name="TextBox 5"/>
          <p:cNvSpPr txBox="1"/>
          <p:nvPr/>
        </p:nvSpPr>
        <p:spPr>
          <a:xfrm>
            <a:off x="2255547" y="1064660"/>
            <a:ext cx="15149620" cy="702945"/>
          </a:xfrm>
          <a:prstGeom prst="rect">
            <a:avLst/>
          </a:prstGeom>
        </p:spPr>
        <p:txBody>
          <a:bodyPr lIns="0" tIns="0" rIns="0" bIns="0" rtlCol="0" anchor="t">
            <a:spAutoFit/>
          </a:bodyPr>
          <a:lstStyle/>
          <a:p>
            <a:pPr algn="l">
              <a:lnSpc>
                <a:spcPts val="5760"/>
              </a:lnSpc>
            </a:pPr>
            <a:r>
              <a:rPr lang="en-US" sz="3600" b="1">
                <a:solidFill>
                  <a:srgbClr val="000000"/>
                </a:solidFill>
                <a:latin typeface="Times New Roman Bold"/>
                <a:ea typeface="Times New Roman Bold"/>
                <a:cs typeface="Times New Roman Bold"/>
                <a:sym typeface="Times New Roman Bold"/>
              </a:rPr>
              <a:t>Doctors can summarize the whole health record and download it.</a:t>
            </a:r>
          </a:p>
        </p:txBody>
      </p:sp>
      <p:sp>
        <p:nvSpPr>
          <p:cNvPr id="6" name="TextBox 6"/>
          <p:cNvSpPr txBox="1"/>
          <p:nvPr/>
        </p:nvSpPr>
        <p:spPr>
          <a:xfrm>
            <a:off x="7899241" y="163836"/>
            <a:ext cx="3290686" cy="920115"/>
          </a:xfrm>
          <a:prstGeom prst="rect">
            <a:avLst/>
          </a:prstGeom>
        </p:spPr>
        <p:txBody>
          <a:bodyPr lIns="0" tIns="0" rIns="0" bIns="0" rtlCol="0" anchor="t">
            <a:spAutoFit/>
          </a:bodyPr>
          <a:lstStyle/>
          <a:p>
            <a:pPr algn="l">
              <a:lnSpc>
                <a:spcPts val="7559"/>
              </a:lnSpc>
            </a:pPr>
            <a:r>
              <a:rPr lang="en-US" sz="5400" b="1" u="sng">
                <a:solidFill>
                  <a:srgbClr val="2A3990"/>
                </a:solidFill>
                <a:latin typeface="Roboto Bold"/>
                <a:ea typeface="Roboto Bold"/>
                <a:cs typeface="Roboto Bold"/>
                <a:sym typeface="Roboto Bold"/>
              </a:rPr>
              <a:t>RESULTS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7006" y="7680331"/>
            <a:ext cx="18541994" cy="2733656"/>
          </a:xfrm>
          <a:custGeom>
            <a:avLst/>
            <a:gdLst/>
            <a:ahLst/>
            <a:cxnLst/>
            <a:rect l="l" t="t" r="r" b="b"/>
            <a:pathLst>
              <a:path w="18541994" h="2733656">
                <a:moveTo>
                  <a:pt x="0" y="0"/>
                </a:moveTo>
                <a:lnTo>
                  <a:pt x="18541993" y="0"/>
                </a:lnTo>
                <a:lnTo>
                  <a:pt x="18541993" y="2733656"/>
                </a:lnTo>
                <a:lnTo>
                  <a:pt x="0" y="273365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a:off x="131436" y="339928"/>
            <a:ext cx="1437745" cy="1069159"/>
          </a:xfrm>
          <a:custGeom>
            <a:avLst/>
            <a:gdLst/>
            <a:ahLst/>
            <a:cxnLst/>
            <a:rect l="l" t="t" r="r" b="b"/>
            <a:pathLst>
              <a:path w="1437745" h="1069159">
                <a:moveTo>
                  <a:pt x="0" y="0"/>
                </a:moveTo>
                <a:lnTo>
                  <a:pt x="1437745" y="0"/>
                </a:lnTo>
                <a:lnTo>
                  <a:pt x="1437745" y="1069159"/>
                </a:lnTo>
                <a:lnTo>
                  <a:pt x="0" y="106915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4" name="Freeform 4"/>
          <p:cNvSpPr/>
          <p:nvPr/>
        </p:nvSpPr>
        <p:spPr>
          <a:xfrm>
            <a:off x="1899999" y="2040779"/>
            <a:ext cx="14488001" cy="7217521"/>
          </a:xfrm>
          <a:custGeom>
            <a:avLst/>
            <a:gdLst/>
            <a:ahLst/>
            <a:cxnLst/>
            <a:rect l="l" t="t" r="r" b="b"/>
            <a:pathLst>
              <a:path w="14488001" h="7217521">
                <a:moveTo>
                  <a:pt x="0" y="0"/>
                </a:moveTo>
                <a:lnTo>
                  <a:pt x="14488002" y="0"/>
                </a:lnTo>
                <a:lnTo>
                  <a:pt x="14488002" y="7217521"/>
                </a:lnTo>
                <a:lnTo>
                  <a:pt x="0" y="7217521"/>
                </a:lnTo>
                <a:lnTo>
                  <a:pt x="0" y="0"/>
                </a:lnTo>
                <a:close/>
              </a:path>
            </a:pathLst>
          </a:custGeom>
          <a:blipFill>
            <a:blip r:embed="rId6"/>
            <a:stretch>
              <a:fillRect/>
            </a:stretch>
          </a:blipFill>
        </p:spPr>
        <p:txBody>
          <a:bodyPr/>
          <a:lstStyle/>
          <a:p>
            <a:endParaRPr lang="en-IN"/>
          </a:p>
        </p:txBody>
      </p:sp>
      <p:sp>
        <p:nvSpPr>
          <p:cNvPr id="5" name="TextBox 5"/>
          <p:cNvSpPr txBox="1"/>
          <p:nvPr/>
        </p:nvSpPr>
        <p:spPr>
          <a:xfrm>
            <a:off x="1841587" y="1102304"/>
            <a:ext cx="15149620" cy="702945"/>
          </a:xfrm>
          <a:prstGeom prst="rect">
            <a:avLst/>
          </a:prstGeom>
        </p:spPr>
        <p:txBody>
          <a:bodyPr lIns="0" tIns="0" rIns="0" bIns="0" rtlCol="0" anchor="t">
            <a:spAutoFit/>
          </a:bodyPr>
          <a:lstStyle/>
          <a:p>
            <a:pPr algn="l">
              <a:lnSpc>
                <a:spcPts val="5760"/>
              </a:lnSpc>
            </a:pPr>
            <a:r>
              <a:rPr lang="en-US" sz="3600" b="1">
                <a:solidFill>
                  <a:srgbClr val="000000"/>
                </a:solidFill>
                <a:latin typeface="Times New Roman Bold"/>
                <a:ea typeface="Times New Roman Bold"/>
                <a:cs typeface="Times New Roman Bold"/>
                <a:sym typeface="Times New Roman Bold"/>
              </a:rPr>
              <a:t>Hospital authority can view/upload the patient health history.</a:t>
            </a:r>
          </a:p>
        </p:txBody>
      </p:sp>
      <p:sp>
        <p:nvSpPr>
          <p:cNvPr id="6" name="TextBox 6"/>
          <p:cNvSpPr txBox="1"/>
          <p:nvPr/>
        </p:nvSpPr>
        <p:spPr>
          <a:xfrm>
            <a:off x="7899241" y="108585"/>
            <a:ext cx="3034312" cy="920115"/>
          </a:xfrm>
          <a:prstGeom prst="rect">
            <a:avLst/>
          </a:prstGeom>
        </p:spPr>
        <p:txBody>
          <a:bodyPr lIns="0" tIns="0" rIns="0" bIns="0" rtlCol="0" anchor="t">
            <a:spAutoFit/>
          </a:bodyPr>
          <a:lstStyle/>
          <a:p>
            <a:pPr algn="l">
              <a:lnSpc>
                <a:spcPts val="7559"/>
              </a:lnSpc>
            </a:pPr>
            <a:r>
              <a:rPr lang="en-US" sz="5400" b="1" u="sng">
                <a:solidFill>
                  <a:srgbClr val="2A3990"/>
                </a:solidFill>
                <a:latin typeface="Roboto Bold"/>
                <a:ea typeface="Roboto Bold"/>
                <a:cs typeface="Roboto Bold"/>
                <a:sym typeface="Roboto Bold"/>
              </a:rPr>
              <a:t>RESULTS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7006" y="7680331"/>
            <a:ext cx="18541994" cy="2733656"/>
          </a:xfrm>
          <a:custGeom>
            <a:avLst/>
            <a:gdLst/>
            <a:ahLst/>
            <a:cxnLst/>
            <a:rect l="l" t="t" r="r" b="b"/>
            <a:pathLst>
              <a:path w="18541994" h="2733656">
                <a:moveTo>
                  <a:pt x="0" y="0"/>
                </a:moveTo>
                <a:lnTo>
                  <a:pt x="18541993" y="0"/>
                </a:lnTo>
                <a:lnTo>
                  <a:pt x="18541993" y="2733656"/>
                </a:lnTo>
                <a:lnTo>
                  <a:pt x="0" y="273365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a:off x="358266" y="213360"/>
            <a:ext cx="1340867" cy="997118"/>
          </a:xfrm>
          <a:custGeom>
            <a:avLst/>
            <a:gdLst/>
            <a:ahLst/>
            <a:cxnLst/>
            <a:rect l="l" t="t" r="r" b="b"/>
            <a:pathLst>
              <a:path w="1340867" h="997118">
                <a:moveTo>
                  <a:pt x="0" y="0"/>
                </a:moveTo>
                <a:lnTo>
                  <a:pt x="1340868" y="0"/>
                </a:lnTo>
                <a:lnTo>
                  <a:pt x="1340868" y="997118"/>
                </a:lnTo>
                <a:lnTo>
                  <a:pt x="0" y="99711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4" name="Freeform 4"/>
          <p:cNvSpPr/>
          <p:nvPr/>
        </p:nvSpPr>
        <p:spPr>
          <a:xfrm>
            <a:off x="2209465" y="2153138"/>
            <a:ext cx="14317706" cy="7105162"/>
          </a:xfrm>
          <a:custGeom>
            <a:avLst/>
            <a:gdLst/>
            <a:ahLst/>
            <a:cxnLst/>
            <a:rect l="l" t="t" r="r" b="b"/>
            <a:pathLst>
              <a:path w="14317706" h="7105162">
                <a:moveTo>
                  <a:pt x="0" y="0"/>
                </a:moveTo>
                <a:lnTo>
                  <a:pt x="14317706" y="0"/>
                </a:lnTo>
                <a:lnTo>
                  <a:pt x="14317706" y="7105162"/>
                </a:lnTo>
                <a:lnTo>
                  <a:pt x="0" y="7105162"/>
                </a:lnTo>
                <a:lnTo>
                  <a:pt x="0" y="0"/>
                </a:lnTo>
                <a:close/>
              </a:path>
            </a:pathLst>
          </a:custGeom>
          <a:blipFill>
            <a:blip r:embed="rId6"/>
            <a:stretch>
              <a:fillRect/>
            </a:stretch>
          </a:blipFill>
        </p:spPr>
        <p:txBody>
          <a:bodyPr/>
          <a:lstStyle/>
          <a:p>
            <a:endParaRPr lang="en-IN"/>
          </a:p>
        </p:txBody>
      </p:sp>
      <p:grpSp>
        <p:nvGrpSpPr>
          <p:cNvPr id="5" name="Group 5"/>
          <p:cNvGrpSpPr/>
          <p:nvPr/>
        </p:nvGrpSpPr>
        <p:grpSpPr>
          <a:xfrm>
            <a:off x="3046440" y="2596914"/>
            <a:ext cx="2078108" cy="345674"/>
            <a:chOff x="0" y="0"/>
            <a:chExt cx="547321" cy="91042"/>
          </a:xfrm>
        </p:grpSpPr>
        <p:sp>
          <p:nvSpPr>
            <p:cNvPr id="6" name="Freeform 6"/>
            <p:cNvSpPr/>
            <p:nvPr/>
          </p:nvSpPr>
          <p:spPr>
            <a:xfrm>
              <a:off x="0" y="0"/>
              <a:ext cx="547321" cy="91042"/>
            </a:xfrm>
            <a:custGeom>
              <a:avLst/>
              <a:gdLst/>
              <a:ahLst/>
              <a:cxnLst/>
              <a:rect l="l" t="t" r="r" b="b"/>
              <a:pathLst>
                <a:path w="547321" h="91042">
                  <a:moveTo>
                    <a:pt x="0" y="0"/>
                  </a:moveTo>
                  <a:lnTo>
                    <a:pt x="547321" y="0"/>
                  </a:lnTo>
                  <a:lnTo>
                    <a:pt x="547321" y="91042"/>
                  </a:lnTo>
                  <a:lnTo>
                    <a:pt x="0" y="91042"/>
                  </a:lnTo>
                  <a:close/>
                </a:path>
              </a:pathLst>
            </a:custGeom>
            <a:solidFill>
              <a:srgbClr val="F4FAF9"/>
            </a:solidFill>
          </p:spPr>
          <p:txBody>
            <a:bodyPr/>
            <a:lstStyle/>
            <a:p>
              <a:endParaRPr lang="en-IN"/>
            </a:p>
          </p:txBody>
        </p:sp>
        <p:sp>
          <p:nvSpPr>
            <p:cNvPr id="7" name="TextBox 7"/>
            <p:cNvSpPr txBox="1"/>
            <p:nvPr/>
          </p:nvSpPr>
          <p:spPr>
            <a:xfrm>
              <a:off x="0" y="-38100"/>
              <a:ext cx="547321" cy="129142"/>
            </a:xfrm>
            <a:prstGeom prst="rect">
              <a:avLst/>
            </a:prstGeom>
          </p:spPr>
          <p:txBody>
            <a:bodyPr lIns="50800" tIns="50800" rIns="50800" bIns="50800" rtlCol="0" anchor="ctr"/>
            <a:lstStyle/>
            <a:p>
              <a:pPr algn="ctr">
                <a:lnSpc>
                  <a:spcPts val="2799"/>
                </a:lnSpc>
                <a:spcBef>
                  <a:spcPct val="0"/>
                </a:spcBef>
              </a:pPr>
              <a:endParaRPr/>
            </a:p>
          </p:txBody>
        </p:sp>
      </p:grpSp>
      <p:sp>
        <p:nvSpPr>
          <p:cNvPr id="8" name="TextBox 8"/>
          <p:cNvSpPr txBox="1"/>
          <p:nvPr/>
        </p:nvSpPr>
        <p:spPr>
          <a:xfrm>
            <a:off x="1699134" y="1158484"/>
            <a:ext cx="15675479" cy="702945"/>
          </a:xfrm>
          <a:prstGeom prst="rect">
            <a:avLst/>
          </a:prstGeom>
        </p:spPr>
        <p:txBody>
          <a:bodyPr lIns="0" tIns="0" rIns="0" bIns="0" rtlCol="0" anchor="t">
            <a:spAutoFit/>
          </a:bodyPr>
          <a:lstStyle/>
          <a:p>
            <a:pPr algn="l">
              <a:lnSpc>
                <a:spcPts val="5760"/>
              </a:lnSpc>
            </a:pPr>
            <a:r>
              <a:rPr lang="en-US" sz="3600" b="1">
                <a:solidFill>
                  <a:srgbClr val="000000"/>
                </a:solidFill>
                <a:latin typeface="Times New Roman Bold"/>
                <a:ea typeface="Times New Roman Bold"/>
                <a:cs typeface="Times New Roman Bold"/>
                <a:sym typeface="Times New Roman Bold"/>
              </a:rPr>
              <a:t>Patient can view, download the health records and update personal information.</a:t>
            </a:r>
          </a:p>
        </p:txBody>
      </p:sp>
      <p:sp>
        <p:nvSpPr>
          <p:cNvPr id="9" name="TextBox 9"/>
          <p:cNvSpPr txBox="1"/>
          <p:nvPr/>
        </p:nvSpPr>
        <p:spPr>
          <a:xfrm>
            <a:off x="7899232" y="108585"/>
            <a:ext cx="2938172" cy="920115"/>
          </a:xfrm>
          <a:prstGeom prst="rect">
            <a:avLst/>
          </a:prstGeom>
        </p:spPr>
        <p:txBody>
          <a:bodyPr lIns="0" tIns="0" rIns="0" bIns="0" rtlCol="0" anchor="t">
            <a:spAutoFit/>
          </a:bodyPr>
          <a:lstStyle/>
          <a:p>
            <a:pPr algn="l">
              <a:lnSpc>
                <a:spcPts val="7559"/>
              </a:lnSpc>
            </a:pPr>
            <a:r>
              <a:rPr lang="en-US" sz="5400" b="1" u="sng">
                <a:solidFill>
                  <a:srgbClr val="2A3990"/>
                </a:solidFill>
                <a:latin typeface="Roboto Bold"/>
                <a:ea typeface="Roboto Bold"/>
                <a:cs typeface="Roboto Bold"/>
                <a:sym typeface="Roboto Bold"/>
              </a:rPr>
              <a:t>RESULTS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322718" y="4528547"/>
            <a:ext cx="15015705" cy="1246499"/>
          </a:xfrm>
          <a:custGeom>
            <a:avLst/>
            <a:gdLst/>
            <a:ahLst/>
            <a:cxnLst/>
            <a:rect l="l" t="t" r="r" b="b"/>
            <a:pathLst>
              <a:path w="15015705" h="1246499">
                <a:moveTo>
                  <a:pt x="0" y="0"/>
                </a:moveTo>
                <a:lnTo>
                  <a:pt x="15015705" y="0"/>
                </a:lnTo>
                <a:lnTo>
                  <a:pt x="15015705" y="1246499"/>
                </a:lnTo>
                <a:lnTo>
                  <a:pt x="0" y="124649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a:off x="-127006" y="7680331"/>
            <a:ext cx="18541994" cy="2733656"/>
          </a:xfrm>
          <a:custGeom>
            <a:avLst/>
            <a:gdLst/>
            <a:ahLst/>
            <a:cxnLst/>
            <a:rect l="l" t="t" r="r" b="b"/>
            <a:pathLst>
              <a:path w="18541994" h="2733656">
                <a:moveTo>
                  <a:pt x="0" y="0"/>
                </a:moveTo>
                <a:lnTo>
                  <a:pt x="18541993" y="0"/>
                </a:lnTo>
                <a:lnTo>
                  <a:pt x="18541993" y="2733656"/>
                </a:lnTo>
                <a:lnTo>
                  <a:pt x="0" y="273365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4" name="TextBox 4"/>
          <p:cNvSpPr txBox="1"/>
          <p:nvPr/>
        </p:nvSpPr>
        <p:spPr>
          <a:xfrm>
            <a:off x="1028700" y="2593068"/>
            <a:ext cx="16230600" cy="2512676"/>
          </a:xfrm>
          <a:prstGeom prst="rect">
            <a:avLst/>
          </a:prstGeom>
        </p:spPr>
        <p:txBody>
          <a:bodyPr lIns="0" tIns="0" rIns="0" bIns="0" rtlCol="0" anchor="t">
            <a:spAutoFit/>
          </a:bodyPr>
          <a:lstStyle/>
          <a:p>
            <a:pPr marL="388625" lvl="1" algn="just">
              <a:lnSpc>
                <a:spcPts val="5040"/>
              </a:lnSpc>
            </a:pPr>
            <a:r>
              <a:rPr lang="en-US" sz="3600" dirty="0">
                <a:latin typeface="Times New Roman" panose="02020603050405020304" pitchFamily="18" charset="0"/>
                <a:cs typeface="Times New Roman" panose="02020603050405020304" pitchFamily="18" charset="0"/>
              </a:rPr>
              <a:t>	</a:t>
            </a:r>
            <a:r>
              <a:rPr lang="en-US" sz="3600" dirty="0" err="1">
                <a:solidFill>
                  <a:srgbClr val="000000"/>
                </a:solidFill>
                <a:latin typeface="Times New Roman"/>
                <a:ea typeface="Times New Roman"/>
                <a:cs typeface="Times New Roman"/>
                <a:sym typeface="Times New Roman"/>
              </a:rPr>
              <a:t>MediScan</a:t>
            </a:r>
            <a:r>
              <a:rPr lang="en-US" sz="3600" dirty="0">
                <a:solidFill>
                  <a:srgbClr val="000000"/>
                </a:solidFill>
                <a:latin typeface="Times New Roman"/>
                <a:ea typeface="Times New Roman"/>
                <a:cs typeface="Times New Roman"/>
                <a:sym typeface="Times New Roman"/>
              </a:rPr>
              <a:t> AI streamlines emergency care by providing doctors with immediate access to reliable patient information. Its AI-powered features reduce risks, save time, and improve overall treatment accuracy. The system proves how technology can transform patient safety and hospital workflow.</a:t>
            </a:r>
          </a:p>
        </p:txBody>
      </p:sp>
      <p:sp>
        <p:nvSpPr>
          <p:cNvPr id="5" name="TextBox 5"/>
          <p:cNvSpPr txBox="1"/>
          <p:nvPr/>
        </p:nvSpPr>
        <p:spPr>
          <a:xfrm>
            <a:off x="7278242" y="783374"/>
            <a:ext cx="4276310" cy="920115"/>
          </a:xfrm>
          <a:prstGeom prst="rect">
            <a:avLst/>
          </a:prstGeom>
        </p:spPr>
        <p:txBody>
          <a:bodyPr lIns="0" tIns="0" rIns="0" bIns="0" rtlCol="0" anchor="t">
            <a:spAutoFit/>
          </a:bodyPr>
          <a:lstStyle/>
          <a:p>
            <a:pPr algn="l">
              <a:lnSpc>
                <a:spcPts val="7559"/>
              </a:lnSpc>
            </a:pPr>
            <a:r>
              <a:rPr lang="en-US" sz="5400" b="1" u="sng">
                <a:solidFill>
                  <a:srgbClr val="2A3990"/>
                </a:solidFill>
                <a:latin typeface="Roboto Bold"/>
                <a:ea typeface="Roboto Bold"/>
                <a:cs typeface="Roboto Bold"/>
                <a:sym typeface="Roboto Bold"/>
              </a:rPr>
              <a:t>CONCLUSION</a:t>
            </a:r>
          </a:p>
        </p:txBody>
      </p:sp>
      <p:sp>
        <p:nvSpPr>
          <p:cNvPr id="6" name="Freeform 6"/>
          <p:cNvSpPr/>
          <p:nvPr/>
        </p:nvSpPr>
        <p:spPr>
          <a:xfrm>
            <a:off x="131436" y="339928"/>
            <a:ext cx="1474433" cy="1096442"/>
          </a:xfrm>
          <a:custGeom>
            <a:avLst/>
            <a:gdLst/>
            <a:ahLst/>
            <a:cxnLst/>
            <a:rect l="l" t="t" r="r" b="b"/>
            <a:pathLst>
              <a:path w="1474433" h="1096442">
                <a:moveTo>
                  <a:pt x="0" y="0"/>
                </a:moveTo>
                <a:lnTo>
                  <a:pt x="1474433" y="0"/>
                </a:lnTo>
                <a:lnTo>
                  <a:pt x="1474433" y="1096442"/>
                </a:lnTo>
                <a:lnTo>
                  <a:pt x="0" y="109644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IN"/>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7006" y="7680331"/>
            <a:ext cx="18541994" cy="2733656"/>
          </a:xfrm>
          <a:custGeom>
            <a:avLst/>
            <a:gdLst/>
            <a:ahLst/>
            <a:cxnLst/>
            <a:rect l="l" t="t" r="r" b="b"/>
            <a:pathLst>
              <a:path w="18541994" h="2733656">
                <a:moveTo>
                  <a:pt x="0" y="0"/>
                </a:moveTo>
                <a:lnTo>
                  <a:pt x="18541993" y="0"/>
                </a:lnTo>
                <a:lnTo>
                  <a:pt x="18541993" y="2733656"/>
                </a:lnTo>
                <a:lnTo>
                  <a:pt x="0" y="273365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TextBox 3"/>
          <p:cNvSpPr txBox="1"/>
          <p:nvPr/>
        </p:nvSpPr>
        <p:spPr>
          <a:xfrm>
            <a:off x="7177530" y="516255"/>
            <a:ext cx="5090670" cy="904094"/>
          </a:xfrm>
          <a:prstGeom prst="rect">
            <a:avLst/>
          </a:prstGeom>
        </p:spPr>
        <p:txBody>
          <a:bodyPr wrap="square" lIns="0" tIns="0" rIns="0" bIns="0" rtlCol="0" anchor="t">
            <a:spAutoFit/>
          </a:bodyPr>
          <a:lstStyle/>
          <a:p>
            <a:pPr algn="l">
              <a:lnSpc>
                <a:spcPts val="7559"/>
              </a:lnSpc>
            </a:pPr>
            <a:r>
              <a:rPr lang="en-US" sz="5400" b="1" u="sng" dirty="0">
                <a:solidFill>
                  <a:srgbClr val="2A3990"/>
                </a:solidFill>
                <a:latin typeface="Roboto Bold"/>
                <a:ea typeface="Roboto Bold"/>
                <a:cs typeface="Roboto Bold"/>
                <a:sym typeface="Roboto Bold"/>
              </a:rPr>
              <a:t>FUTURE WORK</a:t>
            </a:r>
          </a:p>
        </p:txBody>
      </p:sp>
      <p:sp>
        <p:nvSpPr>
          <p:cNvPr id="4" name="TextBox 4"/>
          <p:cNvSpPr txBox="1"/>
          <p:nvPr/>
        </p:nvSpPr>
        <p:spPr>
          <a:xfrm>
            <a:off x="1028700" y="2741888"/>
            <a:ext cx="16230600" cy="4404360"/>
          </a:xfrm>
          <a:prstGeom prst="rect">
            <a:avLst/>
          </a:prstGeom>
        </p:spPr>
        <p:txBody>
          <a:bodyPr lIns="0" tIns="0" rIns="0" bIns="0" rtlCol="0" anchor="t">
            <a:spAutoFit/>
          </a:bodyPr>
          <a:lstStyle/>
          <a:p>
            <a:pPr marL="777240" lvl="1" indent="-388620" algn="just">
              <a:lnSpc>
                <a:spcPts val="5040"/>
              </a:lnSpc>
              <a:buFont typeface="Arial"/>
              <a:buChar char="•"/>
            </a:pPr>
            <a:r>
              <a:rPr lang="en-US" sz="3600" dirty="0">
                <a:solidFill>
                  <a:srgbClr val="000000"/>
                </a:solidFill>
                <a:latin typeface="Times New Roman"/>
                <a:ea typeface="Times New Roman"/>
                <a:cs typeface="Times New Roman"/>
                <a:sym typeface="Times New Roman"/>
              </a:rPr>
              <a:t>Image based patient search(Face recognition).</a:t>
            </a:r>
          </a:p>
          <a:p>
            <a:pPr marL="777240" lvl="1" indent="-388620" algn="just">
              <a:lnSpc>
                <a:spcPts val="5040"/>
              </a:lnSpc>
              <a:buFont typeface="Arial"/>
              <a:buChar char="•"/>
            </a:pPr>
            <a:r>
              <a:rPr lang="en-US" sz="3600" dirty="0">
                <a:solidFill>
                  <a:srgbClr val="000000"/>
                </a:solidFill>
                <a:latin typeface="Times New Roman"/>
                <a:ea typeface="Times New Roman"/>
                <a:cs typeface="Times New Roman"/>
                <a:sym typeface="Times New Roman"/>
              </a:rPr>
              <a:t>Live integration with government health ID, Ayushman Bharath Health Account(ABHA).</a:t>
            </a:r>
          </a:p>
          <a:p>
            <a:pPr marL="777240" lvl="1" indent="-388620" algn="just">
              <a:lnSpc>
                <a:spcPts val="5040"/>
              </a:lnSpc>
              <a:buFont typeface="Arial"/>
              <a:buChar char="•"/>
            </a:pPr>
            <a:r>
              <a:rPr lang="en-US" sz="3600" dirty="0">
                <a:solidFill>
                  <a:srgbClr val="000000"/>
                </a:solidFill>
                <a:latin typeface="Times New Roman"/>
                <a:ea typeface="Times New Roman"/>
                <a:cs typeface="Times New Roman"/>
                <a:sym typeface="Times New Roman"/>
              </a:rPr>
              <a:t>Real-time health monitoring device connection, Internet of Things(IoT).</a:t>
            </a:r>
          </a:p>
          <a:p>
            <a:pPr marL="777240" lvl="1" indent="-388620" algn="just">
              <a:lnSpc>
                <a:spcPts val="5040"/>
              </a:lnSpc>
              <a:buFont typeface="Arial"/>
              <a:buChar char="•"/>
            </a:pPr>
            <a:r>
              <a:rPr lang="en-US" sz="3600" dirty="0">
                <a:solidFill>
                  <a:srgbClr val="000000"/>
                </a:solidFill>
                <a:latin typeface="Times New Roman"/>
                <a:ea typeface="Times New Roman"/>
                <a:cs typeface="Times New Roman"/>
                <a:sym typeface="Times New Roman"/>
              </a:rPr>
              <a:t>Multi-language summarization.</a:t>
            </a:r>
          </a:p>
          <a:p>
            <a:pPr marL="777240" lvl="1" indent="-388620" algn="just">
              <a:lnSpc>
                <a:spcPts val="5040"/>
              </a:lnSpc>
              <a:buFont typeface="Arial"/>
              <a:buChar char="•"/>
            </a:pPr>
            <a:r>
              <a:rPr lang="en-US" sz="3600" dirty="0">
                <a:solidFill>
                  <a:srgbClr val="000000"/>
                </a:solidFill>
                <a:latin typeface="Times New Roman"/>
                <a:ea typeface="Times New Roman"/>
                <a:cs typeface="Times New Roman"/>
                <a:sym typeface="Times New Roman"/>
              </a:rPr>
              <a:t>Prescription generator using AI and chatbot.</a:t>
            </a:r>
          </a:p>
          <a:p>
            <a:pPr algn="just">
              <a:lnSpc>
                <a:spcPts val="5040"/>
              </a:lnSpc>
            </a:pPr>
            <a:endParaRPr lang="en-US" sz="3600" dirty="0">
              <a:solidFill>
                <a:srgbClr val="000000"/>
              </a:solidFill>
              <a:latin typeface="Times New Roman"/>
              <a:ea typeface="Times New Roman"/>
              <a:cs typeface="Times New Roman"/>
              <a:sym typeface="Times New Roman"/>
            </a:endParaRPr>
          </a:p>
        </p:txBody>
      </p:sp>
      <p:sp>
        <p:nvSpPr>
          <p:cNvPr id="5" name="Freeform 5"/>
          <p:cNvSpPr/>
          <p:nvPr/>
        </p:nvSpPr>
        <p:spPr>
          <a:xfrm>
            <a:off x="131436" y="339928"/>
            <a:ext cx="1294296" cy="962486"/>
          </a:xfrm>
          <a:custGeom>
            <a:avLst/>
            <a:gdLst/>
            <a:ahLst/>
            <a:cxnLst/>
            <a:rect l="l" t="t" r="r" b="b"/>
            <a:pathLst>
              <a:path w="1294296" h="962486">
                <a:moveTo>
                  <a:pt x="0" y="0"/>
                </a:moveTo>
                <a:lnTo>
                  <a:pt x="1294297" y="0"/>
                </a:lnTo>
                <a:lnTo>
                  <a:pt x="1294297" y="962486"/>
                </a:lnTo>
                <a:lnTo>
                  <a:pt x="0" y="96248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5">
            <a:extLst>
              <a:ext uri="{FF2B5EF4-FFF2-40B4-BE49-F238E27FC236}">
                <a16:creationId xmlns:a16="http://schemas.microsoft.com/office/drawing/2014/main" id="{6EE0D579-6E79-1739-87EC-19698517E887}"/>
              </a:ext>
            </a:extLst>
          </p:cNvPr>
          <p:cNvSpPr/>
          <p:nvPr/>
        </p:nvSpPr>
        <p:spPr>
          <a:xfrm>
            <a:off x="131436" y="339928"/>
            <a:ext cx="1294296" cy="962486"/>
          </a:xfrm>
          <a:custGeom>
            <a:avLst/>
            <a:gdLst/>
            <a:ahLst/>
            <a:cxnLst/>
            <a:rect l="l" t="t" r="r" b="b"/>
            <a:pathLst>
              <a:path w="1294296" h="962486">
                <a:moveTo>
                  <a:pt x="0" y="0"/>
                </a:moveTo>
                <a:lnTo>
                  <a:pt x="1294297" y="0"/>
                </a:lnTo>
                <a:lnTo>
                  <a:pt x="1294297" y="962486"/>
                </a:lnTo>
                <a:lnTo>
                  <a:pt x="0" y="96248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TextBox 3">
            <a:extLst>
              <a:ext uri="{FF2B5EF4-FFF2-40B4-BE49-F238E27FC236}">
                <a16:creationId xmlns:a16="http://schemas.microsoft.com/office/drawing/2014/main" id="{5663018F-9D30-DF7A-5D7A-81B3A5732E69}"/>
              </a:ext>
            </a:extLst>
          </p:cNvPr>
          <p:cNvSpPr txBox="1"/>
          <p:nvPr/>
        </p:nvSpPr>
        <p:spPr>
          <a:xfrm>
            <a:off x="7177530" y="516255"/>
            <a:ext cx="5090670" cy="904094"/>
          </a:xfrm>
          <a:prstGeom prst="rect">
            <a:avLst/>
          </a:prstGeom>
        </p:spPr>
        <p:txBody>
          <a:bodyPr wrap="square" lIns="0" tIns="0" rIns="0" bIns="0" rtlCol="0" anchor="t">
            <a:spAutoFit/>
          </a:bodyPr>
          <a:lstStyle/>
          <a:p>
            <a:pPr algn="l">
              <a:lnSpc>
                <a:spcPts val="7559"/>
              </a:lnSpc>
            </a:pPr>
            <a:r>
              <a:rPr lang="en-US" sz="5400" b="1" u="sng" dirty="0">
                <a:solidFill>
                  <a:srgbClr val="2A3990"/>
                </a:solidFill>
                <a:latin typeface="Roboto Bold"/>
                <a:ea typeface="Roboto Bold"/>
                <a:cs typeface="Roboto Bold"/>
                <a:sym typeface="Roboto Bold"/>
              </a:rPr>
              <a:t>GITHUB LINK</a:t>
            </a:r>
          </a:p>
        </p:txBody>
      </p:sp>
      <p:sp>
        <p:nvSpPr>
          <p:cNvPr id="4" name="TextBox 4">
            <a:hlinkClick r:id="rId4"/>
            <a:extLst>
              <a:ext uri="{FF2B5EF4-FFF2-40B4-BE49-F238E27FC236}">
                <a16:creationId xmlns:a16="http://schemas.microsoft.com/office/drawing/2014/main" id="{3DAE3C2D-8042-B64B-47E7-D4319A4AC5A5}"/>
              </a:ext>
            </a:extLst>
          </p:cNvPr>
          <p:cNvSpPr txBox="1"/>
          <p:nvPr/>
        </p:nvSpPr>
        <p:spPr>
          <a:xfrm>
            <a:off x="1028700" y="2593068"/>
            <a:ext cx="16230600" cy="4436279"/>
          </a:xfrm>
          <a:prstGeom prst="rect">
            <a:avLst/>
          </a:prstGeom>
        </p:spPr>
        <p:txBody>
          <a:bodyPr lIns="0" tIns="0" rIns="0" bIns="0" rtlCol="0" anchor="t">
            <a:spAutoFit/>
          </a:bodyPr>
          <a:lstStyle/>
          <a:p>
            <a:pPr marL="960125" lvl="1" indent="-571500" algn="just">
              <a:lnSpc>
                <a:spcPts val="5040"/>
              </a:lnSpc>
              <a:buFont typeface="Arial" panose="020B0604020202020204" pitchFamily="34" charset="0"/>
              <a:buChar char="•"/>
            </a:pPr>
            <a:r>
              <a:rPr lang="en-US" sz="3600" dirty="0">
                <a:solidFill>
                  <a:srgbClr val="000000"/>
                </a:solidFill>
                <a:latin typeface="Times New Roman" panose="02020603050405020304" pitchFamily="18" charset="0"/>
                <a:ea typeface="Times New Roman"/>
                <a:cs typeface="Times New Roman" panose="02020603050405020304" pitchFamily="18" charset="0"/>
                <a:sym typeface="Times New Roman"/>
              </a:rPr>
              <a:t>Tarun G : </a:t>
            </a:r>
            <a:r>
              <a:rPr lang="en-US" sz="3600" dirty="0">
                <a:solidFill>
                  <a:srgbClr val="000000"/>
                </a:solidFill>
                <a:latin typeface="Times New Roman" panose="02020603050405020304" pitchFamily="18" charset="0"/>
                <a:ea typeface="Times New Roman"/>
                <a:cs typeface="Times New Roman" panose="02020603050405020304" pitchFamily="18" charset="0"/>
                <a:sym typeface="Times New Roman"/>
                <a:hlinkClick r:id="rId4"/>
              </a:rPr>
              <a:t>https://github.com/Tarung33/MediscanAI.git</a:t>
            </a:r>
            <a:endParaRPr lang="en-US" sz="3600"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a:p>
            <a:pPr marL="960125" lvl="1" indent="-571500" algn="just">
              <a:lnSpc>
                <a:spcPts val="5040"/>
              </a:lnSpc>
              <a:buFont typeface="Arial" panose="020B0604020202020204" pitchFamily="34" charset="0"/>
              <a:buChar char="•"/>
            </a:pPr>
            <a:r>
              <a:rPr lang="en-US" sz="3600" dirty="0" err="1">
                <a:solidFill>
                  <a:srgbClr val="000000"/>
                </a:solidFill>
                <a:latin typeface="Times New Roman" panose="02020603050405020304" pitchFamily="18" charset="0"/>
                <a:ea typeface="Times New Roman"/>
                <a:cs typeface="Times New Roman" panose="02020603050405020304" pitchFamily="18" charset="0"/>
                <a:sym typeface="Times New Roman"/>
              </a:rPr>
              <a:t>Likeeth</a:t>
            </a:r>
            <a:r>
              <a:rPr lang="en-US" sz="3600" dirty="0">
                <a:solidFill>
                  <a:srgbClr val="000000"/>
                </a:solidFill>
                <a:latin typeface="Times New Roman" panose="02020603050405020304" pitchFamily="18" charset="0"/>
                <a:ea typeface="Times New Roman"/>
                <a:cs typeface="Times New Roman" panose="02020603050405020304" pitchFamily="18" charset="0"/>
                <a:sym typeface="Times New Roman"/>
              </a:rPr>
              <a:t> G </a:t>
            </a:r>
            <a:r>
              <a:rPr lang="en-US" sz="3600" dirty="0" err="1">
                <a:solidFill>
                  <a:srgbClr val="000000"/>
                </a:solidFill>
                <a:latin typeface="Times New Roman" panose="02020603050405020304" pitchFamily="18" charset="0"/>
                <a:ea typeface="Times New Roman"/>
                <a:cs typeface="Times New Roman" panose="02020603050405020304" pitchFamily="18" charset="0"/>
                <a:sym typeface="Times New Roman"/>
              </a:rPr>
              <a:t>Urs</a:t>
            </a:r>
            <a:r>
              <a:rPr lang="en-US" sz="3600" dirty="0">
                <a:solidFill>
                  <a:srgbClr val="000000"/>
                </a:solidFill>
                <a:latin typeface="Times New Roman" panose="02020603050405020304" pitchFamily="18" charset="0"/>
                <a:ea typeface="Times New Roman"/>
                <a:cs typeface="Times New Roman" panose="02020603050405020304" pitchFamily="18" charset="0"/>
                <a:sym typeface="Times New Roman"/>
              </a:rPr>
              <a:t> : </a:t>
            </a:r>
            <a:r>
              <a:rPr lang="en-US" sz="3600" dirty="0">
                <a:solidFill>
                  <a:srgbClr val="000000"/>
                </a:solidFill>
                <a:latin typeface="Times New Roman" panose="02020603050405020304" pitchFamily="18" charset="0"/>
                <a:ea typeface="Times New Roman"/>
                <a:cs typeface="Times New Roman" panose="02020603050405020304" pitchFamily="18" charset="0"/>
                <a:sym typeface="Times New Roman"/>
                <a:hlinkClick r:id="rId5"/>
              </a:rPr>
              <a:t>https://github.com/LikeethGUrs-commits/TheMediscanAI</a:t>
            </a:r>
            <a:endParaRPr lang="en-US" sz="3600"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a:p>
            <a:pPr marL="960125" lvl="1" indent="-571500" algn="just">
              <a:lnSpc>
                <a:spcPts val="5040"/>
              </a:lnSpc>
              <a:buFont typeface="Arial" panose="020B0604020202020204" pitchFamily="34" charset="0"/>
              <a:buChar char="•"/>
            </a:pPr>
            <a:r>
              <a:rPr lang="en-US" sz="3600" dirty="0">
                <a:solidFill>
                  <a:srgbClr val="000000"/>
                </a:solidFill>
                <a:latin typeface="Times New Roman" panose="02020603050405020304" pitchFamily="18" charset="0"/>
                <a:ea typeface="Times New Roman"/>
                <a:cs typeface="Times New Roman" panose="02020603050405020304" pitchFamily="18" charset="0"/>
                <a:sym typeface="Times New Roman"/>
              </a:rPr>
              <a:t>Sai Gokul P V : </a:t>
            </a:r>
            <a:r>
              <a:rPr lang="en-US" sz="3600" dirty="0">
                <a:solidFill>
                  <a:srgbClr val="000000"/>
                </a:solidFill>
                <a:latin typeface="Times New Roman"/>
                <a:ea typeface="Times New Roman"/>
                <a:cs typeface="Times New Roman"/>
                <a:sym typeface="Times New Roman"/>
                <a:hlinkClick r:id="rId6"/>
              </a:rPr>
              <a:t>https://github.com/SaiGokul654/SaiGokul-Mini_Project-.git</a:t>
            </a:r>
            <a:endParaRPr lang="en-US" sz="3600" dirty="0">
              <a:solidFill>
                <a:srgbClr val="000000"/>
              </a:solidFill>
              <a:latin typeface="Times New Roman"/>
              <a:ea typeface="Times New Roman"/>
              <a:cs typeface="Times New Roman"/>
              <a:sym typeface="Times New Roman"/>
            </a:endParaRPr>
          </a:p>
          <a:p>
            <a:pPr marL="960125" lvl="1" indent="-571500" algn="just">
              <a:lnSpc>
                <a:spcPts val="5040"/>
              </a:lnSpc>
              <a:buFont typeface="Arial" panose="020B0604020202020204" pitchFamily="34" charset="0"/>
              <a:buChar char="•"/>
            </a:pPr>
            <a:r>
              <a:rPr lang="en-US" sz="3600" dirty="0">
                <a:solidFill>
                  <a:srgbClr val="000000"/>
                </a:solidFill>
                <a:latin typeface="Times New Roman" panose="02020603050405020304" pitchFamily="18" charset="0"/>
                <a:ea typeface="Times New Roman"/>
                <a:cs typeface="Times New Roman" panose="02020603050405020304" pitchFamily="18" charset="0"/>
                <a:sym typeface="Times New Roman"/>
              </a:rPr>
              <a:t>Nikhil L U : </a:t>
            </a:r>
            <a:r>
              <a:rPr lang="en-US" sz="3600" dirty="0">
                <a:solidFill>
                  <a:srgbClr val="000000"/>
                </a:solidFill>
                <a:latin typeface="Times New Roman"/>
                <a:ea typeface="Times New Roman"/>
                <a:cs typeface="Times New Roman"/>
                <a:sym typeface="Times New Roman"/>
                <a:hlinkClick r:id="rId7"/>
              </a:rPr>
              <a:t>https://github.com/Nikhil-L-U/MediscanAI</a:t>
            </a:r>
            <a:endParaRPr lang="en-US" sz="3600" dirty="0">
              <a:solidFill>
                <a:srgbClr val="000000"/>
              </a:solidFill>
              <a:latin typeface="Times New Roman"/>
              <a:ea typeface="Times New Roman"/>
              <a:cs typeface="Times New Roman"/>
              <a:sym typeface="Times New Roman"/>
            </a:endParaRPr>
          </a:p>
          <a:p>
            <a:pPr marL="960125" lvl="1" indent="-571500" algn="just">
              <a:lnSpc>
                <a:spcPts val="5040"/>
              </a:lnSpc>
              <a:buFont typeface="Arial" panose="020B0604020202020204" pitchFamily="34" charset="0"/>
              <a:buChar char="•"/>
            </a:pPr>
            <a:endParaRPr lang="en-US" sz="3600"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a:p>
            <a:pPr marL="960125" lvl="1" indent="-571500" algn="just">
              <a:lnSpc>
                <a:spcPts val="5040"/>
              </a:lnSpc>
              <a:buFont typeface="Arial" panose="020B0604020202020204" pitchFamily="34" charset="0"/>
              <a:buChar char="•"/>
            </a:pPr>
            <a:endParaRPr lang="en-US" sz="3600" dirty="0">
              <a:solidFill>
                <a:srgbClr val="000000"/>
              </a:solidFill>
              <a:latin typeface="Times New Roman"/>
              <a:ea typeface="Times New Roman"/>
              <a:cs typeface="Times New Roman"/>
              <a:sym typeface="Times New Roman"/>
            </a:endParaRPr>
          </a:p>
          <a:p>
            <a:pPr marL="960125" lvl="1" indent="-571500" algn="just">
              <a:lnSpc>
                <a:spcPts val="5040"/>
              </a:lnSpc>
              <a:buFont typeface="Arial" panose="020B0604020202020204" pitchFamily="34" charset="0"/>
              <a:buChar char="•"/>
            </a:pPr>
            <a:endParaRPr lang="en-US" sz="3600"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0212610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7006" y="7680331"/>
            <a:ext cx="18541994" cy="2733656"/>
          </a:xfrm>
          <a:custGeom>
            <a:avLst/>
            <a:gdLst/>
            <a:ahLst/>
            <a:cxnLst/>
            <a:rect l="l" t="t" r="r" b="b"/>
            <a:pathLst>
              <a:path w="18541994" h="2733656">
                <a:moveTo>
                  <a:pt x="0" y="0"/>
                </a:moveTo>
                <a:lnTo>
                  <a:pt x="18541993" y="0"/>
                </a:lnTo>
                <a:lnTo>
                  <a:pt x="18541993" y="2733656"/>
                </a:lnTo>
                <a:lnTo>
                  <a:pt x="0" y="273365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TextBox 3"/>
          <p:cNvSpPr txBox="1"/>
          <p:nvPr/>
        </p:nvSpPr>
        <p:spPr>
          <a:xfrm>
            <a:off x="6225112" y="1948180"/>
            <a:ext cx="5837756" cy="1358900"/>
          </a:xfrm>
          <a:prstGeom prst="rect">
            <a:avLst/>
          </a:prstGeom>
        </p:spPr>
        <p:txBody>
          <a:bodyPr lIns="0" tIns="0" rIns="0" bIns="0" rtlCol="0" anchor="t">
            <a:spAutoFit/>
          </a:bodyPr>
          <a:lstStyle/>
          <a:p>
            <a:pPr algn="l">
              <a:lnSpc>
                <a:spcPts val="11199"/>
              </a:lnSpc>
            </a:pPr>
            <a:r>
              <a:rPr lang="en-US" sz="7999" b="1" u="sng">
                <a:solidFill>
                  <a:srgbClr val="2A3990"/>
                </a:solidFill>
                <a:latin typeface="Roboto Bold"/>
                <a:ea typeface="Roboto Bold"/>
                <a:cs typeface="Roboto Bold"/>
                <a:sym typeface="Roboto Bold"/>
              </a:rPr>
              <a:t>THANK YOU</a:t>
            </a:r>
          </a:p>
        </p:txBody>
      </p:sp>
      <p:sp>
        <p:nvSpPr>
          <p:cNvPr id="4" name="Freeform 4"/>
          <p:cNvSpPr/>
          <p:nvPr/>
        </p:nvSpPr>
        <p:spPr>
          <a:xfrm>
            <a:off x="131436" y="339928"/>
            <a:ext cx="1400751" cy="1041649"/>
          </a:xfrm>
          <a:custGeom>
            <a:avLst/>
            <a:gdLst/>
            <a:ahLst/>
            <a:cxnLst/>
            <a:rect l="l" t="t" r="r" b="b"/>
            <a:pathLst>
              <a:path w="1400751" h="1041649">
                <a:moveTo>
                  <a:pt x="0" y="0"/>
                </a:moveTo>
                <a:lnTo>
                  <a:pt x="1400751" y="0"/>
                </a:lnTo>
                <a:lnTo>
                  <a:pt x="1400751" y="1041649"/>
                </a:lnTo>
                <a:lnTo>
                  <a:pt x="0" y="104164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5" name="TextBox 5"/>
          <p:cNvSpPr txBox="1"/>
          <p:nvPr/>
        </p:nvSpPr>
        <p:spPr>
          <a:xfrm>
            <a:off x="2488180" y="4175125"/>
            <a:ext cx="13311639" cy="1727200"/>
          </a:xfrm>
          <a:prstGeom prst="rect">
            <a:avLst/>
          </a:prstGeom>
        </p:spPr>
        <p:txBody>
          <a:bodyPr lIns="0" tIns="0" rIns="0" bIns="0" rtlCol="0" anchor="t">
            <a:spAutoFit/>
          </a:bodyPr>
          <a:lstStyle/>
          <a:p>
            <a:pPr algn="ctr">
              <a:lnSpc>
                <a:spcPts val="14000"/>
              </a:lnSpc>
              <a:spcBef>
                <a:spcPct val="0"/>
              </a:spcBef>
            </a:pPr>
            <a:r>
              <a:rPr lang="en-US" sz="10000" b="1">
                <a:solidFill>
                  <a:srgbClr val="2A3990"/>
                </a:solidFill>
                <a:latin typeface="Roboto Bold"/>
                <a:ea typeface="Roboto Bold"/>
                <a:cs typeface="Roboto Bold"/>
                <a:sym typeface="Roboto Bold"/>
              </a:rPr>
              <a:t>QUESTIONS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28</TotalTime>
  <Words>701</Words>
  <Application>Microsoft Office PowerPoint</Application>
  <PresentationFormat>Custom</PresentationFormat>
  <Paragraphs>103</Paragraphs>
  <Slides>19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Times New Roman</vt:lpstr>
      <vt:lpstr>Roboto Bold</vt:lpstr>
      <vt:lpstr>Times New Roman Bold</vt:lpstr>
      <vt:lpstr>Calibri</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MediScan AI</dc:title>
  <cp:lastModifiedBy>P V Saigeethika</cp:lastModifiedBy>
  <cp:revision>6</cp:revision>
  <dcterms:created xsi:type="dcterms:W3CDTF">2006-08-16T00:00:00Z</dcterms:created>
  <dcterms:modified xsi:type="dcterms:W3CDTF">2025-12-14T18:08:43Z</dcterms:modified>
  <dc:identifier>DAG2n7BM7ik</dc:identifier>
</cp:coreProperties>
</file>